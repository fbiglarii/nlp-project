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96" r:id="rId4"/>
    <p:sldId id="278" r:id="rId5"/>
    <p:sldId id="286" r:id="rId6"/>
    <p:sldId id="289" r:id="rId7"/>
    <p:sldId id="290" r:id="rId8"/>
    <p:sldId id="279" r:id="rId9"/>
    <p:sldId id="293" r:id="rId10"/>
    <p:sldId id="280" r:id="rId11"/>
    <p:sldId id="294" r:id="rId12"/>
    <p:sldId id="295" r:id="rId13"/>
    <p:sldId id="264" r:id="rId14"/>
    <p:sldId id="267" r:id="rId15"/>
  </p:sldIdLst>
  <p:sldSz cx="18288000" cy="10287000"/>
  <p:notesSz cx="6858000" cy="9144000"/>
  <p:embeddedFontLst>
    <p:embeddedFont>
      <p:font typeface="B Nazanin" panose="00000400000000000000" pitchFamily="2" charset="-78"/>
      <p:regular r:id="rId17"/>
      <p:bold r:id="rId18"/>
    </p:embeddedFont>
    <p:embeddedFont>
      <p:font typeface="B Zar" panose="00000400000000000000" pitchFamily="2" charset="-78"/>
      <p:regular r:id="rId19"/>
      <p:bold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alibri Light" panose="020F0302020204030204" pitchFamily="34" charset="0"/>
      <p:regular r:id="rId25"/>
      <p:italic r:id="rId26"/>
    </p:embeddedFont>
    <p:embeddedFont>
      <p:font typeface="Nunito Bold" panose="020B0604020202020204" charset="0"/>
      <p:regular r:id="rId27"/>
      <p:bold r:id="rId28"/>
    </p:embeddedFont>
    <p:embeddedFont>
      <p:font typeface="Oswald Bold" panose="020B0604020202020204" charset="0"/>
      <p:regular r:id="rId29"/>
    </p:embeddedFont>
    <p:embeddedFont>
      <p:font typeface="Poppins Bold" panose="020B0604020202020204" charset="0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2" clrIdx="0">
    <p:extLst>
      <p:ext uri="{19B8F6BF-5375-455C-9EA6-DF929625EA0E}">
        <p15:presenceInfo xmlns:p15="http://schemas.microsoft.com/office/powerpoint/2012/main" userId="Asu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C33"/>
    <a:srgbClr val="E2AD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481" autoAdjust="0"/>
  </p:normalViewPr>
  <p:slideViewPr>
    <p:cSldViewPr>
      <p:cViewPr varScale="1">
        <p:scale>
          <a:sx n="42" d="100"/>
          <a:sy n="42" d="100"/>
        </p:scale>
        <p:origin x="3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EFAE9-C632-41B7-852F-6DD419036153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76232-2B77-413B-8B0E-F61AF14BBD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695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9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003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545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22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05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890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744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58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8604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76232-2B77-413B-8B0E-F61AF14BBD4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33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svg"/><Relationship Id="rId7" Type="http://schemas.openxmlformats.org/officeDocument/2006/relationships/image" Target="../media/image12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1524000" y="7616105"/>
            <a:ext cx="20641023" cy="1886776"/>
            <a:chOff x="0" y="0"/>
            <a:chExt cx="5260714" cy="3742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260714" cy="374250"/>
            </a:xfrm>
            <a:custGeom>
              <a:avLst/>
              <a:gdLst/>
              <a:ahLst/>
              <a:cxnLst/>
              <a:rect l="l" t="t" r="r" b="b"/>
              <a:pathLst>
                <a:path w="5260714" h="374250">
                  <a:moveTo>
                    <a:pt x="0" y="0"/>
                  </a:moveTo>
                  <a:lnTo>
                    <a:pt x="5260714" y="0"/>
                  </a:lnTo>
                  <a:lnTo>
                    <a:pt x="5260714" y="374250"/>
                  </a:lnTo>
                  <a:lnTo>
                    <a:pt x="0" y="37425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260714" cy="412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216912" y="-911620"/>
            <a:ext cx="2942276" cy="2942276"/>
          </a:xfrm>
          <a:custGeom>
            <a:avLst/>
            <a:gdLst/>
            <a:ahLst/>
            <a:cxnLst/>
            <a:rect l="l" t="t" r="r" b="b"/>
            <a:pathLst>
              <a:path w="2942276" h="2942276">
                <a:moveTo>
                  <a:pt x="0" y="0"/>
                </a:moveTo>
                <a:lnTo>
                  <a:pt x="2942276" y="0"/>
                </a:lnTo>
                <a:lnTo>
                  <a:pt x="2942276" y="2942276"/>
                </a:lnTo>
                <a:lnTo>
                  <a:pt x="0" y="2942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14">
            <a:extLst>
              <a:ext uri="{FF2B5EF4-FFF2-40B4-BE49-F238E27FC236}">
                <a16:creationId xmlns:a16="http://schemas.microsoft.com/office/drawing/2014/main" id="{17DAC30B-A3E1-4971-9B7D-43EBDB52E222}"/>
              </a:ext>
            </a:extLst>
          </p:cNvPr>
          <p:cNvSpPr txBox="1"/>
          <p:nvPr/>
        </p:nvSpPr>
        <p:spPr>
          <a:xfrm>
            <a:off x="2507525" y="3805688"/>
            <a:ext cx="13159815" cy="4655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3600" b="1" dirty="0">
                <a:solidFill>
                  <a:srgbClr val="000000"/>
                </a:solidFill>
                <a:latin typeface="Poppins Bold"/>
                <a:ea typeface="Poppins Bold"/>
                <a:cs typeface="B Nazanin" panose="00000400000000000000" pitchFamily="2" charset="-78"/>
                <a:sym typeface="Poppins Bold"/>
              </a:rPr>
              <a:t>ABSA with Instruction Learning</a:t>
            </a:r>
            <a:r>
              <a:rPr lang="fa-IR" sz="3600" b="1" dirty="0">
                <a:solidFill>
                  <a:srgbClr val="000000"/>
                </a:solidFill>
                <a:latin typeface="Poppins Bold"/>
                <a:ea typeface="Poppins Bold"/>
                <a:cs typeface="B Nazanin" panose="00000400000000000000" pitchFamily="2" charset="-78"/>
                <a:sym typeface="Poppins Bold"/>
              </a:rPr>
              <a:t>ارائه‌ای از مسئله </a:t>
            </a:r>
            <a:endParaRPr lang="en-US" sz="3600" b="1" dirty="0">
              <a:solidFill>
                <a:srgbClr val="000000"/>
              </a:solidFill>
              <a:latin typeface="Poppins Bold"/>
              <a:ea typeface="Poppins Bold"/>
              <a:cs typeface="B Nazanin" panose="00000400000000000000" pitchFamily="2" charset="-78"/>
              <a:sym typeface="Poppins Bold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70E261A-BDC5-4432-AF22-E60E14D204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966" y="579630"/>
            <a:ext cx="1868068" cy="1868068"/>
          </a:xfrm>
          <a:prstGeom prst="rect">
            <a:avLst/>
          </a:prstGeom>
        </p:spPr>
      </p:pic>
      <p:sp>
        <p:nvSpPr>
          <p:cNvPr id="29" name="Freeform 2">
            <a:extLst>
              <a:ext uri="{FF2B5EF4-FFF2-40B4-BE49-F238E27FC236}">
                <a16:creationId xmlns:a16="http://schemas.microsoft.com/office/drawing/2014/main" id="{90DB53CA-ED9B-4697-A73D-740BF723D326}"/>
              </a:ext>
            </a:extLst>
          </p:cNvPr>
          <p:cNvSpPr/>
          <p:nvPr/>
        </p:nvSpPr>
        <p:spPr>
          <a:xfrm flipH="1">
            <a:off x="-2008771" y="1727507"/>
            <a:ext cx="4017541" cy="4114800"/>
          </a:xfrm>
          <a:custGeom>
            <a:avLst/>
            <a:gdLst/>
            <a:ahLst/>
            <a:cxnLst/>
            <a:rect l="l" t="t" r="r" b="b"/>
            <a:pathLst>
              <a:path w="4017541" h="4114800">
                <a:moveTo>
                  <a:pt x="4017541" y="0"/>
                </a:moveTo>
                <a:lnTo>
                  <a:pt x="0" y="0"/>
                </a:lnTo>
                <a:lnTo>
                  <a:pt x="0" y="4114800"/>
                </a:lnTo>
                <a:lnTo>
                  <a:pt x="4017541" y="4114800"/>
                </a:lnTo>
                <a:lnTo>
                  <a:pt x="401754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A96B0-65DB-4065-B86F-88A3022A9C60}"/>
              </a:ext>
            </a:extLst>
          </p:cNvPr>
          <p:cNvSpPr txBox="1"/>
          <p:nvPr/>
        </p:nvSpPr>
        <p:spPr>
          <a:xfrm>
            <a:off x="2812324" y="5393342"/>
            <a:ext cx="125502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 Study on </a:t>
            </a:r>
            <a:r>
              <a:rPr lang="en-US" sz="2400" b="1" dirty="0">
                <a:solidFill>
                  <a:srgbClr val="000000"/>
                </a:solidFill>
                <a:latin typeface="Poppins Bold"/>
                <a:ea typeface="Poppins Bold"/>
                <a:cs typeface="B Nazanin" panose="00000400000000000000" pitchFamily="2" charset="-78"/>
                <a:sym typeface="Poppins Bold"/>
              </a:rPr>
              <a:t>ABSA with Instruction Learning</a:t>
            </a:r>
            <a:endParaRPr lang="en-US" sz="24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1D2E2B-EEB6-4BED-A59A-46174358E2DC}"/>
              </a:ext>
            </a:extLst>
          </p:cNvPr>
          <p:cNvSpPr txBox="1"/>
          <p:nvPr/>
        </p:nvSpPr>
        <p:spPr>
          <a:xfrm>
            <a:off x="4404951" y="7948769"/>
            <a:ext cx="9478097" cy="4789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36"/>
              </a:lnSpc>
            </a:pPr>
            <a:r>
              <a:rPr lang="fa-IR" sz="3200" b="1" dirty="0">
                <a:solidFill>
                  <a:srgbClr val="000000"/>
                </a:solidFill>
                <a:latin typeface="Nunito Bold"/>
                <a:ea typeface="Nunito Bold"/>
                <a:cs typeface="B Nazanin" panose="00000400000000000000" pitchFamily="2" charset="-78"/>
                <a:sym typeface="Nunito Bold"/>
              </a:rPr>
              <a:t>ارائه دهنده : فائزه بیگلری</a:t>
            </a:r>
            <a:endParaRPr lang="en-US" sz="3200" b="1" dirty="0">
              <a:solidFill>
                <a:srgbClr val="000000"/>
              </a:solidFill>
              <a:latin typeface="Nunito Bold"/>
              <a:ea typeface="Nunito Bold"/>
              <a:cs typeface="B Nazanin" panose="00000400000000000000" pitchFamily="2" charset="-78"/>
              <a:sym typeface="Nunito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3785140" y="1738208"/>
            <a:ext cx="4510468" cy="1696850"/>
            <a:chOff x="0" y="0"/>
            <a:chExt cx="1187942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299490" y="4087474"/>
            <a:ext cx="37846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413133" y="5775985"/>
            <a:ext cx="3670957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181952" y="2213274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200"/>
              </a:lnSpc>
            </a:pPr>
            <a:r>
              <a:rPr lang="fa-IR" sz="3200" b="1" dirty="0">
                <a:solidFill>
                  <a:srgbClr val="FFFFFF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FFFFFF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2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E945A9B-23F5-41B3-85AD-8F199BCE0899}"/>
              </a:ext>
            </a:extLst>
          </p:cNvPr>
          <p:cNvSpPr txBox="1"/>
          <p:nvPr/>
        </p:nvSpPr>
        <p:spPr>
          <a:xfrm>
            <a:off x="1309087" y="1007955"/>
            <a:ext cx="11707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به منظور تهیه این ارائه، برخی مقالات مرتبط با مبحث </a:t>
            </a:r>
            <a:r>
              <a:rPr lang="en-US" sz="2800" b="1" dirty="0">
                <a:cs typeface="B Nazanin" panose="00000400000000000000" pitchFamily="2" charset="-78"/>
              </a:rPr>
              <a:t>ABSA with Instruction Learning</a:t>
            </a:r>
            <a:r>
              <a:rPr lang="fa-IR" sz="2800" b="1" dirty="0">
                <a:cs typeface="B Nazanin" panose="00000400000000000000" pitchFamily="2" charset="-78"/>
              </a:rPr>
              <a:t> به شرح ذیل بررسی شده و در ادامه خلاصه‌ای از مفاد آنها و نتایج حاصله  تشریح می‌گردد.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84442B-37F2-42FF-AA20-DD2B46EA7F9C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2</a:t>
            </a:fld>
            <a:endParaRPr lang="en-US" dirty="0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EFBB8A82-05E6-4784-B31F-71816A487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65053"/>
            <a:ext cx="277268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16">
            <a:extLst>
              <a:ext uri="{FF2B5EF4-FFF2-40B4-BE49-F238E27FC236}">
                <a16:creationId xmlns:a16="http://schemas.microsoft.com/office/drawing/2014/main" id="{07F8DBD6-4CF2-4442-BB3E-C0E63762E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8" y="288131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857182-FF4E-4FB1-9D5C-1555D1C596E5}"/>
              </a:ext>
            </a:extLst>
          </p:cNvPr>
          <p:cNvSpPr txBox="1"/>
          <p:nvPr/>
        </p:nvSpPr>
        <p:spPr>
          <a:xfrm>
            <a:off x="929072" y="2482578"/>
            <a:ext cx="117074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FontTx/>
              <a:buAutoNum type="arabicPeriod"/>
            </a:pPr>
            <a:r>
              <a:rPr lang="en-US" sz="2800" b="1" dirty="0"/>
              <a:t>A Survey on Aspect-Based Sentiment Analysis — Zhang et al. (2022)</a:t>
            </a:r>
            <a:endParaRPr lang="en-US" sz="2800" dirty="0"/>
          </a:p>
          <a:p>
            <a:pPr marL="514350" indent="-514350" algn="just">
              <a:buFontTx/>
              <a:buAutoNum type="arabicPeriod"/>
            </a:pPr>
            <a:r>
              <a:rPr lang="en-US" sz="2800" b="1" dirty="0"/>
              <a:t>Large Language Models for Aspect-Based Sentiment Analysis — Simmering &amp; </a:t>
            </a:r>
            <a:r>
              <a:rPr lang="en-US" sz="2800" b="1" dirty="0" err="1"/>
              <a:t>Huoviala</a:t>
            </a:r>
            <a:r>
              <a:rPr lang="en-US" sz="2800" b="1" dirty="0"/>
              <a:t>. (</a:t>
            </a:r>
            <a:r>
              <a:rPr lang="fa-IR" sz="2800" b="1" dirty="0"/>
              <a:t>2023</a:t>
            </a:r>
            <a:r>
              <a:rPr lang="en-US" sz="2800" b="1" dirty="0"/>
              <a:t>)</a:t>
            </a:r>
          </a:p>
          <a:p>
            <a:pPr marL="514350" indent="-514350" algn="just">
              <a:buFontTx/>
              <a:buAutoNum type="arabicPeriod"/>
            </a:pPr>
            <a:r>
              <a:rPr lang="en-US" sz="2800" b="1" dirty="0" err="1"/>
              <a:t>InstructABSA</a:t>
            </a:r>
            <a:r>
              <a:rPr lang="en-US" sz="2800" b="1" dirty="0"/>
              <a:t>: Instruction Learning for Aspect-Based Sentiment Analysis</a:t>
            </a:r>
            <a:r>
              <a:rPr lang="fa-IR" sz="2800" b="1" dirty="0"/>
              <a:t> </a:t>
            </a:r>
            <a:r>
              <a:rPr lang="en-US" sz="2800" b="1" dirty="0"/>
              <a:t>— </a:t>
            </a:r>
            <a:r>
              <a:rPr lang="en-US" sz="2800" b="1" dirty="0" err="1"/>
              <a:t>Scaria</a:t>
            </a:r>
            <a:r>
              <a:rPr lang="en-US" sz="2800" b="1" dirty="0"/>
              <a:t> et al. (2024)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3A116-5261-4B49-B0C4-8B2BC927D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689" y="5150942"/>
            <a:ext cx="9360717" cy="4682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3785140" y="1738208"/>
            <a:ext cx="4510468" cy="1696850"/>
            <a:chOff x="0" y="0"/>
            <a:chExt cx="1187942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4299490" y="4087474"/>
            <a:ext cx="37846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413133" y="5775985"/>
            <a:ext cx="3670957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181952" y="2213274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200"/>
              </a:lnSpc>
            </a:pPr>
            <a:r>
              <a:rPr lang="fa-IR" sz="3200" b="1" dirty="0">
                <a:solidFill>
                  <a:srgbClr val="FFFFFF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FFFFFF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3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84442B-37F2-42FF-AA20-DD2B46EA7F9C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3</a:t>
            </a:fld>
            <a:endParaRPr lang="en-US" dirty="0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EFBB8A82-05E6-4784-B31F-71816A487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065053"/>
            <a:ext cx="2772684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2" name="Rectangle 16">
            <a:extLst>
              <a:ext uri="{FF2B5EF4-FFF2-40B4-BE49-F238E27FC236}">
                <a16:creationId xmlns:a16="http://schemas.microsoft.com/office/drawing/2014/main" id="{07F8DBD6-4CF2-4442-BB3E-C0E63762E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0338" y="288131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9DACB0F-A9D6-495C-9E97-19545769520D}"/>
              </a:ext>
            </a:extLst>
          </p:cNvPr>
          <p:cNvSpPr txBox="1"/>
          <p:nvPr/>
        </p:nvSpPr>
        <p:spPr>
          <a:xfrm>
            <a:off x="1309087" y="874446"/>
            <a:ext cx="117074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لذا در این ارائه، انواع روش‌های تحلیل احساسات مبتنی بر جنبه (</a:t>
            </a:r>
            <a:r>
              <a:rPr lang="en-US" sz="2800" b="1" dirty="0">
                <a:cs typeface="B Nazanin" panose="00000400000000000000" pitchFamily="2" charset="-78"/>
              </a:rPr>
              <a:t>ABSA</a:t>
            </a:r>
            <a:r>
              <a:rPr lang="fa-IR" sz="2800" b="1" dirty="0">
                <a:cs typeface="B Nazanin" panose="00000400000000000000" pitchFamily="2" charset="-78"/>
              </a:rPr>
              <a:t>) که یکی از مهم‌ترین حوزه‌های پردازش زبان طبیعی است و هدف</a:t>
            </a:r>
            <a:r>
              <a:rPr lang="en-US" sz="2800" b="1" dirty="0">
                <a:cs typeface="B Nazanin" panose="00000400000000000000" pitchFamily="2" charset="-78"/>
              </a:rPr>
              <a:t> </a:t>
            </a:r>
            <a:r>
              <a:rPr lang="fa-IR" sz="2800" b="1" dirty="0">
                <a:cs typeface="B Nazanin" panose="00000400000000000000" pitchFamily="2" charset="-78"/>
              </a:rPr>
              <a:t>آن شناسایی نظرات و احساسات افراد از متن است مورد بررسي قرار گرفته است.</a:t>
            </a:r>
          </a:p>
          <a:p>
            <a:pPr algn="just" rtl="1"/>
            <a:endParaRPr lang="fa-IR" sz="2800" b="1" dirty="0">
              <a:cs typeface="B Nazanin" panose="00000400000000000000" pitchFamily="2" charset="-78"/>
            </a:endParaRPr>
          </a:p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همانگونه که در نمونه‌های واقعی جدول ذیل ذکر شده است، تحلیل جنبه و قطبیت آن اهمیت و کاربرد بسیار بالایی در کسب و کار خواهد داشت: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D722BFB-E1B9-4FD8-B716-EAB90B219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020344"/>
              </p:ext>
            </p:extLst>
          </p:nvPr>
        </p:nvGraphicFramePr>
        <p:xfrm>
          <a:off x="1297657" y="4539911"/>
          <a:ext cx="11388084" cy="4626583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3574221">
                  <a:extLst>
                    <a:ext uri="{9D8B030D-6E8A-4147-A177-3AD203B41FA5}">
                      <a16:colId xmlns:a16="http://schemas.microsoft.com/office/drawing/2014/main" val="3535604852"/>
                    </a:ext>
                  </a:extLst>
                </a:gridCol>
                <a:gridCol w="3580249">
                  <a:extLst>
                    <a:ext uri="{9D8B030D-6E8A-4147-A177-3AD203B41FA5}">
                      <a16:colId xmlns:a16="http://schemas.microsoft.com/office/drawing/2014/main" val="982159094"/>
                    </a:ext>
                  </a:extLst>
                </a:gridCol>
                <a:gridCol w="4233614">
                  <a:extLst>
                    <a:ext uri="{9D8B030D-6E8A-4147-A177-3AD203B41FA5}">
                      <a16:colId xmlns:a16="http://schemas.microsoft.com/office/drawing/2014/main" val="10914528"/>
                    </a:ext>
                  </a:extLst>
                </a:gridCol>
              </a:tblGrid>
              <a:tr h="494347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3200" b="1" dirty="0">
                          <a:effectLst/>
                          <a:cs typeface="B Nazanin" panose="00000400000000000000" pitchFamily="2" charset="-78"/>
                        </a:rPr>
                        <a:t>اهمیت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3200" b="1" dirty="0">
                          <a:effectLst/>
                          <a:cs typeface="B Nazanin" panose="00000400000000000000" pitchFamily="2" charset="-78"/>
                        </a:rPr>
                        <a:t>کاربردها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3200" b="1" dirty="0">
                          <a:effectLst/>
                          <a:cs typeface="B Nazanin" panose="00000400000000000000" pitchFamily="2" charset="-78"/>
                        </a:rPr>
                        <a:t>نمونه‌های واقعی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5365272"/>
                  </a:ext>
                </a:extLst>
              </a:tr>
              <a:tr h="1033059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درک دقیق نظرات کاربران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تحلیل نظرات مشتریان در کسب‌وکارها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بررسی نظرات رستوران‌ها در </a:t>
                      </a:r>
                      <a:r>
                        <a:rPr lang="en-US" sz="2400" b="1" dirty="0">
                          <a:effectLst/>
                          <a:cs typeface="B Nazanin" panose="00000400000000000000" pitchFamily="2" charset="-78"/>
                        </a:rPr>
                        <a:t>Google Maps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47832259"/>
                  </a:ext>
                </a:extLst>
              </a:tr>
              <a:tr h="1033059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شناسایی نقاط قوت/ضعف محصول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پایش برند در شبکه‌های اجتماعی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نظرسنجی محصولات در آمازون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69885319"/>
                  </a:ext>
                </a:extLst>
              </a:tr>
              <a:tr h="1033059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بهبود تصمیم‌گیری کسب‌وکار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بهبود کیفیت خدمات و محصولات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تحلیل توییت‌ها درباره یک فیلم در توییتر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61319993"/>
                  </a:ext>
                </a:extLst>
              </a:tr>
              <a:tr h="1033059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انعطاف‌پذیری با حوزه‌های جدید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>
                          <a:effectLst/>
                          <a:cs typeface="B Nazanin" panose="00000400000000000000" pitchFamily="2" charset="-78"/>
                        </a:rPr>
                        <a:t>سیستم‌های توصیه‌گر هوشمند</a:t>
                      </a:r>
                      <a:endParaRPr lang="en-US" sz="2400" b="1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ارزیابی خدمات بانک‌ها توسط مشتریان</a:t>
                      </a:r>
                      <a:endParaRPr lang="en-US" sz="2400" b="1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42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69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4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8B9F2589-3260-42EF-88E7-EB6AD5B08C8D}"/>
              </a:ext>
            </a:extLst>
          </p:cNvPr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F941AF24-816A-4CFD-A5E5-75BC0910604A}"/>
                </a:ext>
              </a:extLst>
            </p:cNvPr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935A2935-6987-4DAC-A591-C0FF03749570}"/>
                </a:ext>
              </a:extLst>
            </p:cNvPr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2" name="AutoShape 8">
            <a:extLst>
              <a:ext uri="{FF2B5EF4-FFF2-40B4-BE49-F238E27FC236}">
                <a16:creationId xmlns:a16="http://schemas.microsoft.com/office/drawing/2014/main" id="{B74816C7-A9DA-4039-BAC6-14725BDB95FC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AEFF30AA-DADC-4800-BFC7-414407809507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5D33E990-6C58-4540-ACEC-FF428C724872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13">
            <a:extLst>
              <a:ext uri="{FF2B5EF4-FFF2-40B4-BE49-F238E27FC236}">
                <a16:creationId xmlns:a16="http://schemas.microsoft.com/office/drawing/2014/main" id="{951B72F6-DD9E-4A32-9653-E7A398F7FFCC}"/>
              </a:ext>
            </a:extLst>
          </p:cNvPr>
          <p:cNvGrpSpPr/>
          <p:nvPr/>
        </p:nvGrpSpPr>
        <p:grpSpPr>
          <a:xfrm>
            <a:off x="13785140" y="3297474"/>
            <a:ext cx="4510468" cy="2293823"/>
            <a:chOff x="0" y="0"/>
            <a:chExt cx="1187942" cy="812800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7DEA9B42-72A6-4DE3-84FC-0AC928846856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7EF9495D-B5E4-488A-8AD7-9A03A1D59A37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8" name="TextBox 19">
            <a:extLst>
              <a:ext uri="{FF2B5EF4-FFF2-40B4-BE49-F238E27FC236}">
                <a16:creationId xmlns:a16="http://schemas.microsoft.com/office/drawing/2014/main" id="{4CA8E25C-D588-4A73-9D39-B04FB6CE2CE4}"/>
              </a:ext>
            </a:extLst>
          </p:cNvPr>
          <p:cNvSpPr txBox="1"/>
          <p:nvPr/>
        </p:nvSpPr>
        <p:spPr>
          <a:xfrm>
            <a:off x="13785140" y="4083227"/>
            <a:ext cx="399611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bg1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337065F3-B6C1-47F1-A95A-3FED40181604}"/>
              </a:ext>
            </a:extLst>
          </p:cNvPr>
          <p:cNvSpPr txBox="1"/>
          <p:nvPr/>
        </p:nvSpPr>
        <p:spPr>
          <a:xfrm>
            <a:off x="14602322" y="5775985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A917C318-2A5B-4D32-9BDE-98F9FB6AE71E}"/>
              </a:ext>
            </a:extLst>
          </p:cNvPr>
          <p:cNvSpPr txBox="1"/>
          <p:nvPr/>
        </p:nvSpPr>
        <p:spPr>
          <a:xfrm>
            <a:off x="14428967" y="1910163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2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57BCDCAF-DBC4-498E-B6EC-B447E4C08F24}"/>
              </a:ext>
            </a:extLst>
          </p:cNvPr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C047B2-F366-42DA-96DC-A15B95FADFA6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4</a:t>
            </a:fld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84CC64-C219-46A9-A5AD-EFA1BA399189}"/>
              </a:ext>
            </a:extLst>
          </p:cNvPr>
          <p:cNvSpPr txBox="1"/>
          <p:nvPr/>
        </p:nvSpPr>
        <p:spPr>
          <a:xfrm>
            <a:off x="1296764" y="1109944"/>
            <a:ext cx="117074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تحلیل احساسات سنتی فقط یک برچسب کلی به کل متن می‌دهد. اما در دنیای واقعی، یک متن ميتواند چند نظر يا جنبه متفاوت داشته باشد. </a:t>
            </a:r>
          </a:p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مثال ساده: "این فیلم عالی بود" ← احساس: مثبت</a:t>
            </a:r>
          </a:p>
          <a:p>
            <a:pPr algn="just" rtl="1"/>
            <a:endParaRPr lang="fa-IR" sz="2800" b="1" dirty="0">
              <a:cs typeface="B Nazanin" panose="00000400000000000000" pitchFamily="2" charset="-7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BCF938-974A-40EE-A604-7A8992429509}"/>
              </a:ext>
            </a:extLst>
          </p:cNvPr>
          <p:cNvSpPr txBox="1"/>
          <p:nvPr/>
        </p:nvSpPr>
        <p:spPr>
          <a:xfrm>
            <a:off x="-304610" y="2871420"/>
            <a:ext cx="117074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 rtl="1"/>
            <a:r>
              <a:rPr lang="fa-IR" sz="3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راه </a:t>
            </a:r>
            <a:r>
              <a:rPr lang="ar-SA" sz="3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حل</a:t>
            </a:r>
            <a:r>
              <a:rPr lang="fa-IR" sz="32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: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Aspect-Based Sentiment Analysis (ABSA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)</a:t>
            </a:r>
            <a:endParaRPr lang="en-US" sz="2800" dirty="0">
              <a:solidFill>
                <a:schemeClr val="accent6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0FB9FBE-32D7-488D-BD47-02042AFAB088}"/>
              </a:ext>
            </a:extLst>
          </p:cNvPr>
          <p:cNvSpPr txBox="1"/>
          <p:nvPr/>
        </p:nvSpPr>
        <p:spPr>
          <a:xfrm>
            <a:off x="1258664" y="4206302"/>
            <a:ext cx="118402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en-US" sz="2800" b="1" dirty="0">
                <a:cs typeface="B Nazanin" panose="00000400000000000000" pitchFamily="2" charset="-78"/>
              </a:rPr>
              <a:t>ABSA </a:t>
            </a:r>
            <a:r>
              <a:rPr lang="fa-IR" sz="2800" b="1" dirty="0">
                <a:cs typeface="B Nazanin" panose="00000400000000000000" pitchFamily="2" charset="-78"/>
              </a:rPr>
              <a:t> یا تحلیل احساسات مبتنی بر جنبه، از یک متن، جنبه‌های مختلف را استخراج کرده و نظر/ احساس نسبت به هر جنبه را تعیین مي‌کند. </a:t>
            </a:r>
          </a:p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مثلا براي جمله "غذای این رستوران عالی بود ولی سرویس افتضاح بود":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B7FFCE-4FB8-4B69-B046-CC56B5BDA6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627784"/>
              </p:ext>
            </p:extLst>
          </p:nvPr>
        </p:nvGraphicFramePr>
        <p:xfrm>
          <a:off x="3433896" y="6472300"/>
          <a:ext cx="7938440" cy="2024000"/>
        </p:xfrm>
        <a:graphic>
          <a:graphicData uri="http://schemas.openxmlformats.org/drawingml/2006/table">
            <a:tbl>
              <a:tblPr rtl="1" firstRow="1" firstCol="1" bandRow="1">
                <a:tableStyleId>{93296810-A885-4BE3-A3E7-6D5BEEA58F35}</a:tableStyleId>
              </a:tblPr>
              <a:tblGrid>
                <a:gridCol w="2645392">
                  <a:extLst>
                    <a:ext uri="{9D8B030D-6E8A-4147-A177-3AD203B41FA5}">
                      <a16:colId xmlns:a16="http://schemas.microsoft.com/office/drawing/2014/main" val="2424764714"/>
                    </a:ext>
                  </a:extLst>
                </a:gridCol>
                <a:gridCol w="2646524">
                  <a:extLst>
                    <a:ext uri="{9D8B030D-6E8A-4147-A177-3AD203B41FA5}">
                      <a16:colId xmlns:a16="http://schemas.microsoft.com/office/drawing/2014/main" val="3805074624"/>
                    </a:ext>
                  </a:extLst>
                </a:gridCol>
                <a:gridCol w="2646524">
                  <a:extLst>
                    <a:ext uri="{9D8B030D-6E8A-4147-A177-3AD203B41FA5}">
                      <a16:colId xmlns:a16="http://schemas.microsoft.com/office/drawing/2014/main" val="551729148"/>
                    </a:ext>
                  </a:extLst>
                </a:gridCol>
              </a:tblGrid>
              <a:tr h="1011314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جنبه 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 (Aspect)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نظر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 (Opinion)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احساس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 (Sentiment)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50112839"/>
                  </a:ext>
                </a:extLst>
              </a:tr>
              <a:tr h="506343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غذا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800">
                          <a:effectLst/>
                          <a:cs typeface="B Nazanin" panose="00000400000000000000" pitchFamily="2" charset="-78"/>
                        </a:rPr>
                        <a:t>عالی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800">
                          <a:effectLst/>
                          <a:cs typeface="B Nazanin" panose="00000400000000000000" pitchFamily="2" charset="-78"/>
                        </a:rPr>
                        <a:t>مثبت</a:t>
                      </a:r>
                      <a:r>
                        <a:rPr lang="ar-SA" sz="240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2400">
                          <a:effectLst/>
                          <a:cs typeface="B Nazanin" panose="00000400000000000000" pitchFamily="2" charset="-78"/>
                        </a:rPr>
                        <a:t>✅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3888171"/>
                  </a:ext>
                </a:extLst>
              </a:tr>
              <a:tr h="506343"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سرویس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افتضاح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/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منفی</a:t>
                      </a:r>
                      <a:r>
                        <a:rPr lang="ar-SA" sz="240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2400" dirty="0">
                          <a:effectLst/>
                          <a:cs typeface="B Nazanin" panose="00000400000000000000" pitchFamily="2" charset="-78"/>
                        </a:rPr>
                        <a:t>❌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51968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929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5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8B9F2589-3260-42EF-88E7-EB6AD5B08C8D}"/>
              </a:ext>
            </a:extLst>
          </p:cNvPr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F941AF24-816A-4CFD-A5E5-75BC0910604A}"/>
                </a:ext>
              </a:extLst>
            </p:cNvPr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935A2935-6987-4DAC-A591-C0FF03749570}"/>
                </a:ext>
              </a:extLst>
            </p:cNvPr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2" name="AutoShape 8">
            <a:extLst>
              <a:ext uri="{FF2B5EF4-FFF2-40B4-BE49-F238E27FC236}">
                <a16:creationId xmlns:a16="http://schemas.microsoft.com/office/drawing/2014/main" id="{B74816C7-A9DA-4039-BAC6-14725BDB95FC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AEFF30AA-DADC-4800-BFC7-414407809507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5D33E990-6C58-4540-ACEC-FF428C724872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13">
            <a:extLst>
              <a:ext uri="{FF2B5EF4-FFF2-40B4-BE49-F238E27FC236}">
                <a16:creationId xmlns:a16="http://schemas.microsoft.com/office/drawing/2014/main" id="{951B72F6-DD9E-4A32-9653-E7A398F7FFCC}"/>
              </a:ext>
            </a:extLst>
          </p:cNvPr>
          <p:cNvGrpSpPr/>
          <p:nvPr/>
        </p:nvGrpSpPr>
        <p:grpSpPr>
          <a:xfrm>
            <a:off x="13785140" y="3297474"/>
            <a:ext cx="4510468" cy="2293823"/>
            <a:chOff x="0" y="0"/>
            <a:chExt cx="1187942" cy="812800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7DEA9B42-72A6-4DE3-84FC-0AC928846856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7EF9495D-B5E4-488A-8AD7-9A03A1D59A37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8" name="TextBox 19">
            <a:extLst>
              <a:ext uri="{FF2B5EF4-FFF2-40B4-BE49-F238E27FC236}">
                <a16:creationId xmlns:a16="http://schemas.microsoft.com/office/drawing/2014/main" id="{4CA8E25C-D588-4A73-9D39-B04FB6CE2CE4}"/>
              </a:ext>
            </a:extLst>
          </p:cNvPr>
          <p:cNvSpPr txBox="1"/>
          <p:nvPr/>
        </p:nvSpPr>
        <p:spPr>
          <a:xfrm>
            <a:off x="13785140" y="4073131"/>
            <a:ext cx="399611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bg1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337065F3-B6C1-47F1-A95A-3FED40181604}"/>
              </a:ext>
            </a:extLst>
          </p:cNvPr>
          <p:cNvSpPr txBox="1"/>
          <p:nvPr/>
        </p:nvSpPr>
        <p:spPr>
          <a:xfrm>
            <a:off x="14602322" y="5775985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A917C318-2A5B-4D32-9BDE-98F9FB6AE71E}"/>
              </a:ext>
            </a:extLst>
          </p:cNvPr>
          <p:cNvSpPr txBox="1"/>
          <p:nvPr/>
        </p:nvSpPr>
        <p:spPr>
          <a:xfrm>
            <a:off x="14428967" y="1910163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2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57BCDCAF-DBC4-498E-B6EC-B447E4C08F24}"/>
              </a:ext>
            </a:extLst>
          </p:cNvPr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C047B2-F366-42DA-96DC-A15B95FADFA6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5</a:t>
            </a:fld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835594-CAE4-4069-9E74-5D2F2E29D96D}"/>
              </a:ext>
            </a:extLst>
          </p:cNvPr>
          <p:cNvSpPr txBox="1"/>
          <p:nvPr/>
        </p:nvSpPr>
        <p:spPr>
          <a:xfrm>
            <a:off x="1483989" y="1862509"/>
            <a:ext cx="110185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چهار عنصر اصلی جملات در</a:t>
            </a:r>
            <a:r>
              <a:rPr lang="en-US" sz="2800" b="1" dirty="0">
                <a:cs typeface="B Nazanin" panose="00000400000000000000" pitchFamily="2" charset="-78"/>
              </a:rPr>
              <a:t>ABSA </a:t>
            </a:r>
            <a:r>
              <a:rPr lang="fa-IR" sz="2800" b="1" dirty="0">
                <a:cs typeface="B Nazanin" panose="00000400000000000000" pitchFamily="2" charset="-78"/>
              </a:rPr>
              <a:t> که ورودی‌ها و خروجی‌های هر تسک</a:t>
            </a:r>
            <a:r>
              <a:rPr lang="en-US" sz="2800" b="1" dirty="0">
                <a:cs typeface="B Nazanin" panose="00000400000000000000" pitchFamily="2" charset="-78"/>
              </a:rPr>
              <a:t>ABSA </a:t>
            </a:r>
            <a:r>
              <a:rPr lang="fa-IR" sz="2800" b="1" dirty="0">
                <a:cs typeface="B Nazanin" panose="00000400000000000000" pitchFamily="2" charset="-78"/>
              </a:rPr>
              <a:t> ترکیبی از این عناصر خواهد بود، به شرح جدول زیر می‌باشد: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F5309E7-B6C4-4269-88B4-72AD5EB8FA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420895"/>
              </p:ext>
            </p:extLst>
          </p:nvPr>
        </p:nvGraphicFramePr>
        <p:xfrm>
          <a:off x="1483989" y="3816571"/>
          <a:ext cx="11018520" cy="3036632"/>
        </p:xfrm>
        <a:graphic>
          <a:graphicData uri="http://schemas.openxmlformats.org/drawingml/2006/table">
            <a:tbl>
              <a:tblPr rtl="1" firstRow="1" firstCol="1" bandRow="1">
                <a:tableStyleId>{7E9639D4-E3E2-4D34-9284-5A2195B3D0D7}</a:tableStyleId>
              </a:tblPr>
              <a:tblGrid>
                <a:gridCol w="2768657">
                  <a:extLst>
                    <a:ext uri="{9D8B030D-6E8A-4147-A177-3AD203B41FA5}">
                      <a16:colId xmlns:a16="http://schemas.microsoft.com/office/drawing/2014/main" val="3989411745"/>
                    </a:ext>
                  </a:extLst>
                </a:gridCol>
                <a:gridCol w="3854220">
                  <a:extLst>
                    <a:ext uri="{9D8B030D-6E8A-4147-A177-3AD203B41FA5}">
                      <a16:colId xmlns:a16="http://schemas.microsoft.com/office/drawing/2014/main" val="3228007080"/>
                    </a:ext>
                  </a:extLst>
                </a:gridCol>
                <a:gridCol w="4395643">
                  <a:extLst>
                    <a:ext uri="{9D8B030D-6E8A-4147-A177-3AD203B41FA5}">
                      <a16:colId xmlns:a16="http://schemas.microsoft.com/office/drawing/2014/main" val="852175511"/>
                    </a:ext>
                  </a:extLst>
                </a:gridCol>
              </a:tblGrid>
              <a:tr h="5167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3200">
                          <a:effectLst/>
                          <a:cs typeface="B Nazanin" panose="00000400000000000000" pitchFamily="2" charset="-78"/>
                        </a:rPr>
                        <a:t>عناصر جمله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3200">
                          <a:effectLst/>
                          <a:cs typeface="B Nazanin" panose="00000400000000000000" pitchFamily="2" charset="-78"/>
                        </a:rPr>
                        <a:t>توضیح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3200">
                          <a:effectLst/>
                          <a:cs typeface="B Nazanin" panose="00000400000000000000" pitchFamily="2" charset="-78"/>
                        </a:rPr>
                        <a:t>مثال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41431711"/>
                  </a:ext>
                </a:extLst>
              </a:tr>
              <a:tr h="44304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cs typeface="B Nazanin" panose="00000400000000000000" pitchFamily="2" charset="-78"/>
                        </a:rPr>
                        <a:t>Aspect Term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>
                          <a:effectLst/>
                          <a:cs typeface="B Nazanin" panose="00000400000000000000" pitchFamily="2" charset="-78"/>
                        </a:rPr>
                        <a:t>کلمه/عبارت خاص در متن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"</a:t>
                      </a: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غذا"، "سرویس"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82061268"/>
                  </a:ext>
                </a:extLst>
              </a:tr>
              <a:tr h="711260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  <a:cs typeface="B Nazanin" panose="00000400000000000000" pitchFamily="2" charset="-78"/>
                        </a:rPr>
                        <a:t>Aspect Category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دسته‌بندی کلی جنبه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cs typeface="B Nazanin" panose="00000400000000000000" pitchFamily="2" charset="-78"/>
                        </a:rPr>
                        <a:t>FOOD#QUALITY, SERVICE#GENERAL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77804112"/>
                  </a:ext>
                </a:extLst>
              </a:tr>
              <a:tr h="443046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cs typeface="B Nazanin" panose="00000400000000000000" pitchFamily="2" charset="-78"/>
                        </a:rPr>
                        <a:t>Opinion Term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>
                          <a:effectLst/>
                          <a:cs typeface="B Nazanin" panose="00000400000000000000" pitchFamily="2" charset="-78"/>
                        </a:rPr>
                        <a:t>کلمه‌ای که نظر رو بیان میکنه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"</a:t>
                      </a: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عالی"، "افتضاح"، "سریع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"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8887410"/>
                  </a:ext>
                </a:extLst>
              </a:tr>
              <a:tr h="83629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  <a:cs typeface="B Nazanin" panose="00000400000000000000" pitchFamily="2" charset="-78"/>
                        </a:rPr>
                        <a:t>Sentiment Polarity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قطبیت احساس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مثبت، منفی، خنثی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781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0956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6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8B9F2589-3260-42EF-88E7-EB6AD5B08C8D}"/>
              </a:ext>
            </a:extLst>
          </p:cNvPr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F941AF24-816A-4CFD-A5E5-75BC0910604A}"/>
                </a:ext>
              </a:extLst>
            </p:cNvPr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935A2935-6987-4DAC-A591-C0FF03749570}"/>
                </a:ext>
              </a:extLst>
            </p:cNvPr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2" name="AutoShape 8">
            <a:extLst>
              <a:ext uri="{FF2B5EF4-FFF2-40B4-BE49-F238E27FC236}">
                <a16:creationId xmlns:a16="http://schemas.microsoft.com/office/drawing/2014/main" id="{B74816C7-A9DA-4039-BAC6-14725BDB95FC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AEFF30AA-DADC-4800-BFC7-414407809507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5D33E990-6C58-4540-ACEC-FF428C724872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13">
            <a:extLst>
              <a:ext uri="{FF2B5EF4-FFF2-40B4-BE49-F238E27FC236}">
                <a16:creationId xmlns:a16="http://schemas.microsoft.com/office/drawing/2014/main" id="{951B72F6-DD9E-4A32-9653-E7A398F7FFCC}"/>
              </a:ext>
            </a:extLst>
          </p:cNvPr>
          <p:cNvGrpSpPr/>
          <p:nvPr/>
        </p:nvGrpSpPr>
        <p:grpSpPr>
          <a:xfrm>
            <a:off x="13785140" y="3297474"/>
            <a:ext cx="4510468" cy="2293823"/>
            <a:chOff x="0" y="0"/>
            <a:chExt cx="1187942" cy="812800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7DEA9B42-72A6-4DE3-84FC-0AC928846856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7EF9495D-B5E4-488A-8AD7-9A03A1D59A37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8" name="TextBox 19">
            <a:extLst>
              <a:ext uri="{FF2B5EF4-FFF2-40B4-BE49-F238E27FC236}">
                <a16:creationId xmlns:a16="http://schemas.microsoft.com/office/drawing/2014/main" id="{4CA8E25C-D588-4A73-9D39-B04FB6CE2CE4}"/>
              </a:ext>
            </a:extLst>
          </p:cNvPr>
          <p:cNvSpPr txBox="1"/>
          <p:nvPr/>
        </p:nvSpPr>
        <p:spPr>
          <a:xfrm>
            <a:off x="13785140" y="4073131"/>
            <a:ext cx="399611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bg1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337065F3-B6C1-47F1-A95A-3FED40181604}"/>
              </a:ext>
            </a:extLst>
          </p:cNvPr>
          <p:cNvSpPr txBox="1"/>
          <p:nvPr/>
        </p:nvSpPr>
        <p:spPr>
          <a:xfrm>
            <a:off x="14602322" y="5775985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A917C318-2A5B-4D32-9BDE-98F9FB6AE71E}"/>
              </a:ext>
            </a:extLst>
          </p:cNvPr>
          <p:cNvSpPr txBox="1"/>
          <p:nvPr/>
        </p:nvSpPr>
        <p:spPr>
          <a:xfrm>
            <a:off x="14428967" y="1910163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2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57BCDCAF-DBC4-498E-B6EC-B447E4C08F24}"/>
              </a:ext>
            </a:extLst>
          </p:cNvPr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C047B2-F366-42DA-96DC-A15B95FADFA6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6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6E49E2-00F0-40F2-9FDF-78791B8D11FD}"/>
              </a:ext>
            </a:extLst>
          </p:cNvPr>
          <p:cNvSpPr txBox="1"/>
          <p:nvPr/>
        </p:nvSpPr>
        <p:spPr>
          <a:xfrm>
            <a:off x="1366349" y="1596902"/>
            <a:ext cx="11707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2800" b="1" dirty="0">
                <a:cs typeface="B Nazanin" panose="00000400000000000000" pitchFamily="2" charset="-78"/>
              </a:rPr>
              <a:t>با در نظر گرفتن عناصر یادشده در اسلاید قبل، تسک‌های </a:t>
            </a:r>
            <a:r>
              <a:rPr lang="en-US" sz="2800" b="1" dirty="0">
                <a:cs typeface="B Nazanin" panose="00000400000000000000" pitchFamily="2" charset="-78"/>
              </a:rPr>
              <a:t>ABSA</a:t>
            </a:r>
            <a:r>
              <a:rPr lang="fa-IR" sz="2800" b="1" dirty="0">
                <a:cs typeface="B Nazanin" panose="00000400000000000000" pitchFamily="2" charset="-78"/>
              </a:rPr>
              <a:t> مشتمل بر موارد زیر می‌باشند: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AD42B0-758A-40C2-92E3-D03164BF7B0E}"/>
              </a:ext>
            </a:extLst>
          </p:cNvPr>
          <p:cNvSpPr txBox="1"/>
          <p:nvPr/>
        </p:nvSpPr>
        <p:spPr>
          <a:xfrm>
            <a:off x="5092372" y="2909380"/>
            <a:ext cx="7249500" cy="6189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685800" algn="r"/>
              </a:tabLst>
            </a:pP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تسک‌های تکی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(Single Element)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ATE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: فقط استخراج جنبه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OTE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فقط استخراج نظر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ATSC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فقط تعیین احساس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685800" algn="r"/>
              </a:tabLst>
            </a:pP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تسک‌های جفتی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(Pair)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AOPE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جفت (جنبه، نظر)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ASPE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جفت (جنبه، احساس)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685800" algn="r"/>
              </a:tabLst>
            </a:pP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تسک‌های سه تایی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(Triplet)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ASTE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سه‌تایی (جنبه، نظر، احساس)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"/>
              <a:tabLst>
                <a:tab pos="685800" algn="r"/>
              </a:tabLst>
            </a:pP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تسک‌های چهارتایی 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(Quad)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742950" marR="0" lvl="1" indent="-285750" algn="r" rt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100"/>
              <a:buFont typeface="Times New Roman" panose="02020603050405020304" pitchFamily="18" charset="0"/>
              <a:buAutoNum type="arabicPeriod"/>
            </a:pP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ASQP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: چهارتایی (جنبه، دسته، نظر، احساس)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289941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7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grpSp>
        <p:nvGrpSpPr>
          <p:cNvPr id="29" name="Group 2">
            <a:extLst>
              <a:ext uri="{FF2B5EF4-FFF2-40B4-BE49-F238E27FC236}">
                <a16:creationId xmlns:a16="http://schemas.microsoft.com/office/drawing/2014/main" id="{8B9F2589-3260-42EF-88E7-EB6AD5B08C8D}"/>
              </a:ext>
            </a:extLst>
          </p:cNvPr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0" name="Freeform 3">
              <a:extLst>
                <a:ext uri="{FF2B5EF4-FFF2-40B4-BE49-F238E27FC236}">
                  <a16:creationId xmlns:a16="http://schemas.microsoft.com/office/drawing/2014/main" id="{F941AF24-816A-4CFD-A5E5-75BC0910604A}"/>
                </a:ext>
              </a:extLst>
            </p:cNvPr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935A2935-6987-4DAC-A591-C0FF03749570}"/>
                </a:ext>
              </a:extLst>
            </p:cNvPr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2" name="AutoShape 8">
            <a:extLst>
              <a:ext uri="{FF2B5EF4-FFF2-40B4-BE49-F238E27FC236}">
                <a16:creationId xmlns:a16="http://schemas.microsoft.com/office/drawing/2014/main" id="{B74816C7-A9DA-4039-BAC6-14725BDB95FC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10">
            <a:extLst>
              <a:ext uri="{FF2B5EF4-FFF2-40B4-BE49-F238E27FC236}">
                <a16:creationId xmlns:a16="http://schemas.microsoft.com/office/drawing/2014/main" id="{AEFF30AA-DADC-4800-BFC7-414407809507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AutoShape 11">
            <a:extLst>
              <a:ext uri="{FF2B5EF4-FFF2-40B4-BE49-F238E27FC236}">
                <a16:creationId xmlns:a16="http://schemas.microsoft.com/office/drawing/2014/main" id="{5D33E990-6C58-4540-ACEC-FF428C724872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5" name="Group 13">
            <a:extLst>
              <a:ext uri="{FF2B5EF4-FFF2-40B4-BE49-F238E27FC236}">
                <a16:creationId xmlns:a16="http://schemas.microsoft.com/office/drawing/2014/main" id="{951B72F6-DD9E-4A32-9653-E7A398F7FFCC}"/>
              </a:ext>
            </a:extLst>
          </p:cNvPr>
          <p:cNvGrpSpPr/>
          <p:nvPr/>
        </p:nvGrpSpPr>
        <p:grpSpPr>
          <a:xfrm>
            <a:off x="13785140" y="3297474"/>
            <a:ext cx="4510468" cy="2293823"/>
            <a:chOff x="0" y="0"/>
            <a:chExt cx="1187942" cy="812800"/>
          </a:xfrm>
        </p:grpSpPr>
        <p:sp>
          <p:nvSpPr>
            <p:cNvPr id="36" name="Freeform 14">
              <a:extLst>
                <a:ext uri="{FF2B5EF4-FFF2-40B4-BE49-F238E27FC236}">
                  <a16:creationId xmlns:a16="http://schemas.microsoft.com/office/drawing/2014/main" id="{7DEA9B42-72A6-4DE3-84FC-0AC928846856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37" name="TextBox 15">
              <a:extLst>
                <a:ext uri="{FF2B5EF4-FFF2-40B4-BE49-F238E27FC236}">
                  <a16:creationId xmlns:a16="http://schemas.microsoft.com/office/drawing/2014/main" id="{7EF9495D-B5E4-488A-8AD7-9A03A1D59A37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38" name="TextBox 19">
            <a:extLst>
              <a:ext uri="{FF2B5EF4-FFF2-40B4-BE49-F238E27FC236}">
                <a16:creationId xmlns:a16="http://schemas.microsoft.com/office/drawing/2014/main" id="{4CA8E25C-D588-4A73-9D39-B04FB6CE2CE4}"/>
              </a:ext>
            </a:extLst>
          </p:cNvPr>
          <p:cNvSpPr txBox="1"/>
          <p:nvPr/>
        </p:nvSpPr>
        <p:spPr>
          <a:xfrm>
            <a:off x="13785140" y="4073131"/>
            <a:ext cx="399611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bg1"/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bg1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39" name="TextBox 22">
            <a:extLst>
              <a:ext uri="{FF2B5EF4-FFF2-40B4-BE49-F238E27FC236}">
                <a16:creationId xmlns:a16="http://schemas.microsoft.com/office/drawing/2014/main" id="{337065F3-B6C1-47F1-A95A-3FED40181604}"/>
              </a:ext>
            </a:extLst>
          </p:cNvPr>
          <p:cNvSpPr txBox="1"/>
          <p:nvPr/>
        </p:nvSpPr>
        <p:spPr>
          <a:xfrm>
            <a:off x="14602322" y="5775985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A917C318-2A5B-4D32-9BDE-98F9FB6AE71E}"/>
              </a:ext>
            </a:extLst>
          </p:cNvPr>
          <p:cNvSpPr txBox="1"/>
          <p:nvPr/>
        </p:nvSpPr>
        <p:spPr>
          <a:xfrm>
            <a:off x="14428967" y="1910163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2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1" name="TextBox 25">
            <a:extLst>
              <a:ext uri="{FF2B5EF4-FFF2-40B4-BE49-F238E27FC236}">
                <a16:creationId xmlns:a16="http://schemas.microsoft.com/office/drawing/2014/main" id="{57BCDCAF-DBC4-498E-B6EC-B447E4C08F24}"/>
              </a:ext>
            </a:extLst>
          </p:cNvPr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9C047B2-F366-42DA-96DC-A15B95FADFA6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91A6280D-CA61-4EB9-B004-987087A35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069713"/>
              </p:ext>
            </p:extLst>
          </p:nvPr>
        </p:nvGraphicFramePr>
        <p:xfrm>
          <a:off x="956791" y="1910163"/>
          <a:ext cx="12254513" cy="4761421"/>
        </p:xfrm>
        <a:graphic>
          <a:graphicData uri="http://schemas.openxmlformats.org/drawingml/2006/table">
            <a:tbl>
              <a:tblPr rtl="1" firstRow="1" firstCol="1" bandRow="1">
                <a:tableStyleId>{912C8C85-51F0-491E-9774-3900AFEF0FD7}</a:tableStyleId>
              </a:tblPr>
              <a:tblGrid>
                <a:gridCol w="1672967">
                  <a:extLst>
                    <a:ext uri="{9D8B030D-6E8A-4147-A177-3AD203B41FA5}">
                      <a16:colId xmlns:a16="http://schemas.microsoft.com/office/drawing/2014/main" val="3963157623"/>
                    </a:ext>
                  </a:extLst>
                </a:gridCol>
                <a:gridCol w="5378790">
                  <a:extLst>
                    <a:ext uri="{9D8B030D-6E8A-4147-A177-3AD203B41FA5}">
                      <a16:colId xmlns:a16="http://schemas.microsoft.com/office/drawing/2014/main" val="4177978971"/>
                    </a:ext>
                  </a:extLst>
                </a:gridCol>
                <a:gridCol w="5202756">
                  <a:extLst>
                    <a:ext uri="{9D8B030D-6E8A-4147-A177-3AD203B41FA5}">
                      <a16:colId xmlns:a16="http://schemas.microsoft.com/office/drawing/2014/main" val="100907666"/>
                    </a:ext>
                  </a:extLst>
                </a:gridCol>
              </a:tblGrid>
              <a:tr h="39545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 b="1">
                          <a:effectLst/>
                          <a:cs typeface="B Nazanin" panose="00000400000000000000" pitchFamily="2" charset="-78"/>
                        </a:rPr>
                        <a:t>رديف</a:t>
                      </a:r>
                      <a:endParaRPr lang="en-US" sz="28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cs typeface="B Nazanin" panose="00000400000000000000" pitchFamily="2" charset="-78"/>
                        </a:rPr>
                        <a:t>چالش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800" b="1" dirty="0">
                          <a:effectLst/>
                          <a:cs typeface="B Nazanin" panose="00000400000000000000" pitchFamily="2" charset="-78"/>
                        </a:rPr>
                        <a:t>توضیح</a:t>
                      </a:r>
                      <a:endParaRPr lang="en-US" sz="28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6302134"/>
                  </a:ext>
                </a:extLst>
              </a:tr>
              <a:tr h="75500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1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cs typeface="B Nazanin" panose="00000400000000000000" pitchFamily="2" charset="-78"/>
                        </a:rPr>
                        <a:t>Implicit Aspects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جنبه‌ای که صریحا در متن نیست ولی باید استخراج شود: "گرونه" ← قیمت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8040321"/>
                  </a:ext>
                </a:extLst>
              </a:tr>
              <a:tr h="75500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2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cs typeface="B Nazanin" panose="00000400000000000000" pitchFamily="2" charset="-78"/>
                        </a:rPr>
                        <a:t>Implicit Opinions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نظری که صریح نیست: "۳ ساعت منتظر موندم" ← نظر منفی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60231287"/>
                  </a:ext>
                </a:extLst>
              </a:tr>
              <a:tr h="105304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3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cs typeface="B Nazanin" panose="00000400000000000000" pitchFamily="2" charset="-78"/>
                        </a:rPr>
                        <a:t>Multi-aspect Sentences</a:t>
                      </a:r>
                      <a:endParaRPr lang="en-US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جملاتی با چند جنبه و احساس متفاوت</a:t>
                      </a:r>
                      <a:endParaRPr lang="en-US" sz="2400" b="1" dirty="0">
                        <a:effectLst/>
                        <a:cs typeface="B Nazanin" panose="00000400000000000000" pitchFamily="2" charset="-78"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cs typeface="B Nazanin" panose="00000400000000000000" pitchFamily="2" charset="-78"/>
                        </a:rPr>
                        <a:t>"</a:t>
                      </a: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غذا عالی بود ولی قیمتش زیاده و سرویس هم متوسط بود</a:t>
                      </a:r>
                      <a:r>
                        <a:rPr lang="en-US" sz="2400" b="1" dirty="0">
                          <a:effectLst/>
                          <a:cs typeface="B Nazanin" panose="00000400000000000000" pitchFamily="2" charset="-78"/>
                        </a:rPr>
                        <a:t>"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83922889"/>
                  </a:ext>
                </a:extLst>
              </a:tr>
              <a:tr h="39545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4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>
                          <a:effectLst/>
                          <a:cs typeface="B Nazanin" panose="00000400000000000000" pitchFamily="2" charset="-78"/>
                        </a:rPr>
                        <a:t>Aspect-Opinion Alignment</a:t>
                      </a:r>
                      <a:endParaRPr lang="en-US" sz="2400" b="1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تشخیص اینکه کد</a:t>
                      </a:r>
                      <a:r>
                        <a:rPr lang="fa-IR" sz="2400" b="1" dirty="0">
                          <a:effectLst/>
                          <a:cs typeface="B Nazanin" panose="00000400000000000000" pitchFamily="2" charset="-78"/>
                        </a:rPr>
                        <a:t>ا</a:t>
                      </a: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م نظر به کد</a:t>
                      </a:r>
                      <a:r>
                        <a:rPr lang="fa-IR" sz="2400" b="1" dirty="0">
                          <a:effectLst/>
                          <a:cs typeface="B Nazanin" panose="00000400000000000000" pitchFamily="2" charset="-78"/>
                        </a:rPr>
                        <a:t>ا</a:t>
                      </a: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م جنبه مربوط</a:t>
                      </a:r>
                      <a:r>
                        <a:rPr lang="fa-IR" sz="2400" b="1" dirty="0">
                          <a:effectLst/>
                          <a:cs typeface="B Nazanin" panose="00000400000000000000" pitchFamily="2" charset="-78"/>
                        </a:rPr>
                        <a:t> است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54956786"/>
                  </a:ext>
                </a:extLst>
              </a:tr>
              <a:tr h="69604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5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cs typeface="B Nazanin" panose="00000400000000000000" pitchFamily="2" charset="-78"/>
                        </a:rPr>
                        <a:t>Resource Scarcity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2400" b="1" dirty="0">
                          <a:effectLst/>
                          <a:cs typeface="B Nazanin" panose="00000400000000000000" pitchFamily="2" charset="-78"/>
                        </a:rPr>
                        <a:t>کمبود داده برچسب‌دار در زبان‌ها/دامنه‌های مختلف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02257556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66F4551C-78EB-463E-99AB-F4A397916B2B}"/>
              </a:ext>
            </a:extLst>
          </p:cNvPr>
          <p:cNvSpPr txBox="1"/>
          <p:nvPr/>
        </p:nvSpPr>
        <p:spPr>
          <a:xfrm>
            <a:off x="3688856" y="800100"/>
            <a:ext cx="6243295" cy="6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fa-IR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Zar" panose="00000400000000000000" pitchFamily="2" charset="-78"/>
              </a:rPr>
              <a:t>چالش‌های باز</a:t>
            </a: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Zar" panose="00000400000000000000" pitchFamily="2" charset="-78"/>
              </a:rPr>
              <a:t> (Open Challenges)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C4A02F5-915C-49BA-9C01-F0371A1C2F45}"/>
              </a:ext>
            </a:extLst>
          </p:cNvPr>
          <p:cNvSpPr txBox="1"/>
          <p:nvPr/>
        </p:nvSpPr>
        <p:spPr>
          <a:xfrm>
            <a:off x="617286" y="7485349"/>
            <a:ext cx="11707426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just" rtl="1"/>
            <a:r>
              <a:rPr lang="fa-IR" sz="32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راه </a:t>
            </a:r>
            <a:r>
              <a:rPr lang="ar-SA" sz="32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حل</a:t>
            </a:r>
            <a:r>
              <a:rPr lang="fa-IR" sz="32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: </a:t>
            </a:r>
            <a:endParaRPr lang="en-US" sz="3200" b="1" dirty="0"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B Zar" panose="00000400000000000000" pitchFamily="2" charset="-78"/>
            </a:endParaRPr>
          </a:p>
          <a:p>
            <a:pPr marL="457200" marR="0" indent="-457200" algn="just" rtl="1">
              <a:buFont typeface="Wingdings" panose="05000000000000000000" pitchFamily="2" charset="2"/>
              <a:buChar char="ü"/>
            </a:pPr>
            <a:r>
              <a:rPr lang="fa-IR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استفاده از مدل‌های زبانی بزرگ (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LLM-based Method</a:t>
            </a:r>
            <a:r>
              <a:rPr lang="fa-IR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)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 </a:t>
            </a:r>
            <a:r>
              <a:rPr lang="fa-IR" sz="2800" b="1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مانند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GPT</a:t>
            </a:r>
            <a:r>
              <a:rPr lang="en-US" sz="32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 </a:t>
            </a:r>
          </a:p>
          <a:p>
            <a:pPr marL="457200" marR="0" indent="-457200" algn="just" rtl="1">
              <a:buFont typeface="Wingdings" panose="05000000000000000000" pitchFamily="2" charset="2"/>
              <a:buChar char="ü"/>
            </a:pP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Instruction Learning For ABSA </a:t>
            </a:r>
            <a:r>
              <a:rPr lang="fa-IR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 </a:t>
            </a:r>
            <a:r>
              <a:rPr lang="en-US" sz="2800" b="1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(</a:t>
            </a:r>
            <a:r>
              <a:rPr lang="en-US" sz="2800" b="1" dirty="0" err="1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InstructABSA</a:t>
            </a:r>
            <a:r>
              <a:rPr lang="en-US" sz="28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)</a:t>
            </a:r>
            <a:endParaRPr lang="en-US" sz="2800" dirty="0">
              <a:solidFill>
                <a:schemeClr val="accent3">
                  <a:lumMod val="7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925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8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6" name="AutoShape 8">
            <a:extLst>
              <a:ext uri="{FF2B5EF4-FFF2-40B4-BE49-F238E27FC236}">
                <a16:creationId xmlns:a16="http://schemas.microsoft.com/office/drawing/2014/main" id="{ECD8F9BC-2BF5-4651-9877-C500E3AE98AD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10">
            <a:extLst>
              <a:ext uri="{FF2B5EF4-FFF2-40B4-BE49-F238E27FC236}">
                <a16:creationId xmlns:a16="http://schemas.microsoft.com/office/drawing/2014/main" id="{AF039BFC-2C45-4852-957A-19B1B4A7D3EC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11">
            <a:extLst>
              <a:ext uri="{FF2B5EF4-FFF2-40B4-BE49-F238E27FC236}">
                <a16:creationId xmlns:a16="http://schemas.microsoft.com/office/drawing/2014/main" id="{C637BA4E-AF52-480D-8786-E4B28D9677F2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13">
            <a:extLst>
              <a:ext uri="{FF2B5EF4-FFF2-40B4-BE49-F238E27FC236}">
                <a16:creationId xmlns:a16="http://schemas.microsoft.com/office/drawing/2014/main" id="{597FB0DC-9566-4301-BA8F-3DA2B6C82EB5}"/>
              </a:ext>
            </a:extLst>
          </p:cNvPr>
          <p:cNvGrpSpPr/>
          <p:nvPr/>
        </p:nvGrpSpPr>
        <p:grpSpPr>
          <a:xfrm>
            <a:off x="13785140" y="5247142"/>
            <a:ext cx="4510468" cy="2293823"/>
            <a:chOff x="0" y="0"/>
            <a:chExt cx="1187942" cy="812800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5531D95B-FB7A-40A2-B463-D88ED8F39B98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4B367FD9-AA88-4083-A3BF-5CBECBFC608C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42" name="TextBox 19">
            <a:extLst>
              <a:ext uri="{FF2B5EF4-FFF2-40B4-BE49-F238E27FC236}">
                <a16:creationId xmlns:a16="http://schemas.microsoft.com/office/drawing/2014/main" id="{6D628C21-D814-494F-8B5F-76D3497667C2}"/>
              </a:ext>
            </a:extLst>
          </p:cNvPr>
          <p:cNvSpPr txBox="1"/>
          <p:nvPr/>
        </p:nvSpPr>
        <p:spPr>
          <a:xfrm>
            <a:off x="13573622" y="4015649"/>
            <a:ext cx="451046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7A152FF1-34EF-4EE0-9900-EEAD0F5E719C}"/>
              </a:ext>
            </a:extLst>
          </p:cNvPr>
          <p:cNvSpPr txBox="1"/>
          <p:nvPr/>
        </p:nvSpPr>
        <p:spPr>
          <a:xfrm>
            <a:off x="14428967" y="5779316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0AE25563-69C4-4D7D-B778-8F74BDF288D3}"/>
              </a:ext>
            </a:extLst>
          </p:cNvPr>
          <p:cNvSpPr txBox="1"/>
          <p:nvPr/>
        </p:nvSpPr>
        <p:spPr>
          <a:xfrm>
            <a:off x="14428967" y="1910163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2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B513F7D3-C9F0-4E73-9CA7-01ECF24178F7}"/>
              </a:ext>
            </a:extLst>
          </p:cNvPr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0B8107-7D12-4B4E-8E60-136DF09D4382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8</a:t>
            </a:fld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B223BAD-E2EE-4CD8-84B5-681039B70EAF}"/>
              </a:ext>
            </a:extLst>
          </p:cNvPr>
          <p:cNvSpPr txBox="1"/>
          <p:nvPr/>
        </p:nvSpPr>
        <p:spPr>
          <a:xfrm>
            <a:off x="1365597" y="1641922"/>
            <a:ext cx="11707426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مدل‌های زبانی بزرگ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(LLMs)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مثل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GPT-3.5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و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GPT-4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قابلیت‌های بی‌سابقه‌ای در پردازش متن دارند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اما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آیا </a:t>
            </a: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می‌توانند بدون طراحی مدل‌های تخصصی، مسئله</a:t>
            </a: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Aspect-Based Sentiment Analysis (ABSA) </a:t>
            </a:r>
            <a:r>
              <a:rPr lang="fa-IR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را با دقت قابل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‌رقابت با روش‌های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state-of-the-art </a:t>
            </a:r>
            <a:r>
              <a:rPr lang="ar-SA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(</a:t>
            </a:r>
            <a:r>
              <a:rPr lang="en-US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SOTA</a:t>
            </a:r>
            <a:r>
              <a:rPr lang="ar-SA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) </a:t>
            </a:r>
            <a:r>
              <a:rPr lang="ar-SA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حل کنند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؟</a:t>
            </a:r>
            <a:endParaRPr lang="en-US" sz="2800" b="1" dirty="0">
              <a:cs typeface="B Nazanin" panose="00000400000000000000" pitchFamily="2" charset="-7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4D5777-48EB-4828-8ED0-CCD53B844AD5}"/>
              </a:ext>
            </a:extLst>
          </p:cNvPr>
          <p:cNvSpPr txBox="1"/>
          <p:nvPr/>
        </p:nvSpPr>
        <p:spPr>
          <a:xfrm>
            <a:off x="779082" y="3619386"/>
            <a:ext cx="12156856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just" rtl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ar-SA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نویسندگان </a:t>
            </a:r>
            <a:r>
              <a:rPr lang="fa-IR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مقاله </a:t>
            </a:r>
            <a:r>
              <a:rPr lang="ar-SA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عملکرد</a:t>
            </a:r>
            <a:r>
              <a:rPr lang="en-US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latin typeface="Calibri" panose="020F0502020204030204" pitchFamily="34" charset="0"/>
                <a:cs typeface="B Nazanin" panose="00000400000000000000" pitchFamily="2" charset="-78"/>
              </a:rPr>
              <a:t>GPT-3.5</a:t>
            </a:r>
            <a:r>
              <a:rPr lang="en-US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(175 میلیارد پارامتر) و</a:t>
            </a:r>
            <a:r>
              <a:rPr lang="en-US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latin typeface="Calibri" panose="020F0502020204030204" pitchFamily="34" charset="0"/>
                <a:cs typeface="B Nazanin" panose="00000400000000000000" pitchFamily="2" charset="-78"/>
              </a:rPr>
              <a:t>GPT-4</a:t>
            </a:r>
            <a:r>
              <a:rPr lang="en-US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(1.7 تریلیون پارامتر) را در مقايسه با </a:t>
            </a:r>
            <a:r>
              <a:rPr lang="en-US" sz="2600" b="1" dirty="0" err="1">
                <a:latin typeface="Calibri" panose="020F0502020204030204" pitchFamily="34" charset="0"/>
                <a:cs typeface="B Nazanin" panose="00000400000000000000" pitchFamily="2" charset="-78"/>
              </a:rPr>
              <a:t>InstructABSA</a:t>
            </a:r>
            <a:r>
              <a:rPr lang="ar-SA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 (200 میلیون پارامتر)، در تنظیمات مختلف ارزیابی </a:t>
            </a:r>
            <a:r>
              <a:rPr lang="fa-IR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کرده‌اند</a:t>
            </a:r>
            <a:r>
              <a:rPr lang="en-US" sz="2800" b="1" dirty="0">
                <a:latin typeface="Calibri" panose="020F0502020204030204" pitchFamily="34" charset="0"/>
                <a:cs typeface="B Nazanin" panose="00000400000000000000" pitchFamily="2" charset="-78"/>
              </a:rPr>
              <a:t>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B4B52A-9F35-426E-8316-7CA45CDB3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12004"/>
              </p:ext>
            </p:extLst>
          </p:nvPr>
        </p:nvGraphicFramePr>
        <p:xfrm>
          <a:off x="1146820" y="5273713"/>
          <a:ext cx="11874456" cy="4210313"/>
        </p:xfrm>
        <a:graphic>
          <a:graphicData uri="http://schemas.openxmlformats.org/drawingml/2006/table">
            <a:tbl>
              <a:tblPr rtl="1" firstRow="1" firstCol="1" bandRow="1">
                <a:tableStyleId>{912C8C85-51F0-491E-9774-3900AFEF0FD7}</a:tableStyleId>
              </a:tblPr>
              <a:tblGrid>
                <a:gridCol w="2310413">
                  <a:extLst>
                    <a:ext uri="{9D8B030D-6E8A-4147-A177-3AD203B41FA5}">
                      <a16:colId xmlns:a16="http://schemas.microsoft.com/office/drawing/2014/main" val="698586309"/>
                    </a:ext>
                  </a:extLst>
                </a:gridCol>
                <a:gridCol w="3625545">
                  <a:extLst>
                    <a:ext uri="{9D8B030D-6E8A-4147-A177-3AD203B41FA5}">
                      <a16:colId xmlns:a16="http://schemas.microsoft.com/office/drawing/2014/main" val="1429645106"/>
                    </a:ext>
                  </a:extLst>
                </a:gridCol>
                <a:gridCol w="2969249">
                  <a:extLst>
                    <a:ext uri="{9D8B030D-6E8A-4147-A177-3AD203B41FA5}">
                      <a16:colId xmlns:a16="http://schemas.microsoft.com/office/drawing/2014/main" val="1922118603"/>
                    </a:ext>
                  </a:extLst>
                </a:gridCol>
                <a:gridCol w="2969249">
                  <a:extLst>
                    <a:ext uri="{9D8B030D-6E8A-4147-A177-3AD203B41FA5}">
                      <a16:colId xmlns:a16="http://schemas.microsoft.com/office/drawing/2014/main" val="2858448779"/>
                    </a:ext>
                  </a:extLst>
                </a:gridCol>
              </a:tblGrid>
              <a:tr h="73036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2800">
                          <a:effectLst/>
                          <a:cs typeface="B Nazanin" panose="00000400000000000000" pitchFamily="2" charset="-78"/>
                        </a:rPr>
                        <a:t>مدل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حالت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F1-Score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مقایسه با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en-US" sz="2800" dirty="0" err="1">
                          <a:effectLst/>
                          <a:cs typeface="B Nazanin" panose="00000400000000000000" pitchFamily="2" charset="-78"/>
                        </a:rPr>
                        <a:t>InstructABSA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07792028"/>
                  </a:ext>
                </a:extLst>
              </a:tr>
              <a:tr h="41364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600" b="0" dirty="0">
                          <a:effectLst/>
                          <a:cs typeface="B Nazanin" panose="00000400000000000000" pitchFamily="2" charset="-78"/>
                        </a:rPr>
                        <a:t>GPT-4</a:t>
                      </a:r>
                      <a:endParaRPr lang="en-US" sz="2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Zero-shot</a:t>
                      </a:r>
                      <a:endParaRPr lang="fa-IR" sz="2800" dirty="0">
                        <a:effectLst/>
                        <a:cs typeface="B Nazanin" panose="00000400000000000000" pitchFamily="2" charset="-78"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(بدون هیچ مثالی، فقط با </a:t>
                      </a:r>
                      <a:r>
                        <a:rPr lang="en-US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prompt</a:t>
                      </a:r>
                      <a:r>
                        <a:rPr lang="fa-IR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)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2800">
                          <a:effectLst/>
                          <a:cs typeface="B Nazanin" panose="00000400000000000000" pitchFamily="2" charset="-78"/>
                        </a:rPr>
                        <a:t>۵۵ </a:t>
                      </a: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~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cs typeface="B Nazanin" panose="00000400000000000000" pitchFamily="2" charset="-78"/>
                        </a:rPr>
                        <a:t>❌</a:t>
                      </a:r>
                      <a:r>
                        <a:rPr lang="en-US" sz="320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ضعیف‌تر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90999782"/>
                  </a:ext>
                </a:extLst>
              </a:tr>
              <a:tr h="73036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600" b="0" dirty="0">
                          <a:effectLst/>
                          <a:cs typeface="B Nazanin" panose="00000400000000000000" pitchFamily="2" charset="-78"/>
                        </a:rPr>
                        <a:t>GPT-4</a:t>
                      </a:r>
                      <a:endParaRPr lang="en-US" sz="2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Few-shot</a:t>
                      </a:r>
                      <a:endParaRPr lang="en-US" sz="2400" dirty="0">
                        <a:effectLst/>
                        <a:cs typeface="B Nazanin" panose="00000400000000000000" pitchFamily="2" charset="-78"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a-IR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(</a:t>
                      </a:r>
                      <a:r>
                        <a:rPr lang="ar-SA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B Nazanin" panose="00000400000000000000" pitchFamily="2" charset="-78"/>
                        </a:rPr>
                        <a:t>با ۶ مثال در </a:t>
                      </a:r>
                      <a:r>
                        <a:rPr lang="en-US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B Nazanin" panose="00000400000000000000" pitchFamily="2" charset="-78"/>
                        </a:rPr>
                        <a:t>prompt</a:t>
                      </a:r>
                      <a:r>
                        <a:rPr lang="fa-IR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B Nazanin" panose="00000400000000000000" pitchFamily="2" charset="-78"/>
                        </a:rPr>
                        <a:t>)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2800" dirty="0">
                          <a:effectLst/>
                          <a:cs typeface="B Nazanin" panose="00000400000000000000" pitchFamily="2" charset="-78"/>
                        </a:rPr>
                        <a:t>۷۸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~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تقریباً برابر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35297565"/>
                  </a:ext>
                </a:extLst>
              </a:tr>
              <a:tr h="413645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600" b="0" dirty="0">
                          <a:effectLst/>
                          <a:cs typeface="B Nazanin" panose="00000400000000000000" pitchFamily="2" charset="-78"/>
                        </a:rPr>
                        <a:t>GPT-3.5</a:t>
                      </a:r>
                      <a:endParaRPr lang="en-US" sz="2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Fine-tuned</a:t>
                      </a:r>
                      <a:endParaRPr lang="fa-IR" sz="2800" dirty="0">
                        <a:effectLst/>
                        <a:cs typeface="B Nazanin" panose="00000400000000000000" pitchFamily="2" charset="-78"/>
                      </a:endParaRPr>
                    </a:p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240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B Nazanin" panose="00000400000000000000" pitchFamily="2" charset="-78"/>
                        </a:rPr>
                        <a:t>(آموزش روی کل دیتاست)</a:t>
                      </a:r>
                      <a:endParaRPr lang="en-US" sz="2400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2800">
                          <a:effectLst/>
                          <a:cs typeface="B Nazanin" panose="00000400000000000000" pitchFamily="2" charset="-78"/>
                        </a:rPr>
                        <a:t>۸۳.۸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dirty="0">
                          <a:effectLst/>
                          <a:cs typeface="B Nazanin" panose="00000400000000000000" pitchFamily="2" charset="-78"/>
                        </a:rPr>
                        <a:t>✅</a:t>
                      </a: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2800" dirty="0">
                          <a:effectLst/>
                          <a:cs typeface="B Nazanin" panose="00000400000000000000" pitchFamily="2" charset="-78"/>
                        </a:rPr>
                        <a:t>۵.۷</a:t>
                      </a:r>
                      <a:r>
                        <a:rPr lang="fa-IR" sz="3200" dirty="0">
                          <a:effectLst/>
                          <a:cs typeface="B Nazanin" panose="00000400000000000000" pitchFamily="2" charset="-78"/>
                        </a:rPr>
                        <a:t>%</a:t>
                      </a:r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 بهتر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90249571"/>
                  </a:ext>
                </a:extLst>
              </a:tr>
              <a:tr h="57049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600" b="0" dirty="0" err="1">
                          <a:effectLst/>
                          <a:cs typeface="B Nazanin" panose="00000400000000000000" pitchFamily="2" charset="-78"/>
                        </a:rPr>
                        <a:t>InstructABSA</a:t>
                      </a:r>
                      <a:endParaRPr lang="en-US" sz="26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Fine-tuned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fa-IR" sz="2800">
                          <a:effectLst/>
                          <a:cs typeface="B Nazanin" panose="00000400000000000000" pitchFamily="2" charset="-78"/>
                        </a:rPr>
                        <a:t>۷۸.۱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- baseline -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0913341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069BE16-D2B2-4119-BF73-A9E9FFCAEB3C}"/>
              </a:ext>
            </a:extLst>
          </p:cNvPr>
          <p:cNvSpPr txBox="1"/>
          <p:nvPr/>
        </p:nvSpPr>
        <p:spPr>
          <a:xfrm>
            <a:off x="2286000" y="699456"/>
            <a:ext cx="6243295" cy="6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B Zar" panose="00000400000000000000" pitchFamily="2" charset="-78"/>
              </a:rPr>
              <a:t>LLMs For ABSA</a:t>
            </a:r>
            <a:endParaRPr lang="en-US" sz="28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707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9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36" name="AutoShape 8">
            <a:extLst>
              <a:ext uri="{FF2B5EF4-FFF2-40B4-BE49-F238E27FC236}">
                <a16:creationId xmlns:a16="http://schemas.microsoft.com/office/drawing/2014/main" id="{ECD8F9BC-2BF5-4651-9877-C500E3AE98AD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10">
            <a:extLst>
              <a:ext uri="{FF2B5EF4-FFF2-40B4-BE49-F238E27FC236}">
                <a16:creationId xmlns:a16="http://schemas.microsoft.com/office/drawing/2014/main" id="{AF039BFC-2C45-4852-957A-19B1B4A7D3EC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AutoShape 11">
            <a:extLst>
              <a:ext uri="{FF2B5EF4-FFF2-40B4-BE49-F238E27FC236}">
                <a16:creationId xmlns:a16="http://schemas.microsoft.com/office/drawing/2014/main" id="{C637BA4E-AF52-480D-8786-E4B28D9677F2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13">
            <a:extLst>
              <a:ext uri="{FF2B5EF4-FFF2-40B4-BE49-F238E27FC236}">
                <a16:creationId xmlns:a16="http://schemas.microsoft.com/office/drawing/2014/main" id="{597FB0DC-9566-4301-BA8F-3DA2B6C82EB5}"/>
              </a:ext>
            </a:extLst>
          </p:cNvPr>
          <p:cNvGrpSpPr/>
          <p:nvPr/>
        </p:nvGrpSpPr>
        <p:grpSpPr>
          <a:xfrm>
            <a:off x="13785140" y="5247142"/>
            <a:ext cx="4510468" cy="2293823"/>
            <a:chOff x="0" y="0"/>
            <a:chExt cx="1187942" cy="812800"/>
          </a:xfrm>
        </p:grpSpPr>
        <p:sp>
          <p:nvSpPr>
            <p:cNvPr id="40" name="Freeform 14">
              <a:extLst>
                <a:ext uri="{FF2B5EF4-FFF2-40B4-BE49-F238E27FC236}">
                  <a16:creationId xmlns:a16="http://schemas.microsoft.com/office/drawing/2014/main" id="{5531D95B-FB7A-40A2-B463-D88ED8F39B98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41" name="TextBox 15">
              <a:extLst>
                <a:ext uri="{FF2B5EF4-FFF2-40B4-BE49-F238E27FC236}">
                  <a16:creationId xmlns:a16="http://schemas.microsoft.com/office/drawing/2014/main" id="{4B367FD9-AA88-4083-A3BF-5CBECBFC608C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42" name="TextBox 19">
            <a:extLst>
              <a:ext uri="{FF2B5EF4-FFF2-40B4-BE49-F238E27FC236}">
                <a16:creationId xmlns:a16="http://schemas.microsoft.com/office/drawing/2014/main" id="{6D628C21-D814-494F-8B5F-76D3497667C2}"/>
              </a:ext>
            </a:extLst>
          </p:cNvPr>
          <p:cNvSpPr txBox="1"/>
          <p:nvPr/>
        </p:nvSpPr>
        <p:spPr>
          <a:xfrm>
            <a:off x="13573622" y="4015649"/>
            <a:ext cx="4510468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200"/>
              </a:lnSpc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Oswald Bold"/>
                <a:cs typeface="B Nazanin" panose="00000400000000000000" pitchFamily="2" charset="-78"/>
                <a:sym typeface="Oswald Bold"/>
              </a:rPr>
              <a:t>ABSA</a:t>
            </a:r>
            <a:r>
              <a:rPr lang="fa-IR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و چالش‌هاي مربوطه</a:t>
            </a:r>
            <a:endParaRPr lang="en-US" sz="3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3" name="TextBox 22">
            <a:extLst>
              <a:ext uri="{FF2B5EF4-FFF2-40B4-BE49-F238E27FC236}">
                <a16:creationId xmlns:a16="http://schemas.microsoft.com/office/drawing/2014/main" id="{7A152FF1-34EF-4EE0-9900-EEAD0F5E719C}"/>
              </a:ext>
            </a:extLst>
          </p:cNvPr>
          <p:cNvSpPr txBox="1"/>
          <p:nvPr/>
        </p:nvSpPr>
        <p:spPr>
          <a:xfrm>
            <a:off x="14428967" y="5779316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مدل‌هاي زباني بزرگ به عنوان راه حل</a:t>
            </a:r>
          </a:p>
        </p:txBody>
      </p:sp>
      <p:sp>
        <p:nvSpPr>
          <p:cNvPr id="44" name="TextBox 23">
            <a:extLst>
              <a:ext uri="{FF2B5EF4-FFF2-40B4-BE49-F238E27FC236}">
                <a16:creationId xmlns:a16="http://schemas.microsoft.com/office/drawing/2014/main" id="{0AE25563-69C4-4D7D-B778-8F74BDF288D3}"/>
              </a:ext>
            </a:extLst>
          </p:cNvPr>
          <p:cNvSpPr txBox="1"/>
          <p:nvPr/>
        </p:nvSpPr>
        <p:spPr>
          <a:xfrm>
            <a:off x="14428967" y="1910163"/>
            <a:ext cx="3716843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2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مقدمه و هدف</a:t>
            </a:r>
            <a:endParaRPr lang="en-US" sz="32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B513F7D3-C9F0-4E73-9CA7-01ECF24178F7}"/>
              </a:ext>
            </a:extLst>
          </p:cNvPr>
          <p:cNvSpPr txBox="1"/>
          <p:nvPr/>
        </p:nvSpPr>
        <p:spPr>
          <a:xfrm>
            <a:off x="14742678" y="777704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20B8107-7D12-4B4E-8E60-136DF09D4382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9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06B98-5796-48D2-B2CD-FAC22405AB79}"/>
              </a:ext>
            </a:extLst>
          </p:cNvPr>
          <p:cNvSpPr txBox="1"/>
          <p:nvPr/>
        </p:nvSpPr>
        <p:spPr>
          <a:xfrm>
            <a:off x="1143000" y="1490599"/>
            <a:ext cx="12338544" cy="3063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 algn="just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اگر فقط به دقت نگاه کنیم،  </a:t>
            </a: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Fine-Tuned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GPT-3.5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بهترین نتیجه را دارد. اما اگر هزینه به ازای دقت را در نظر بگیریم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:</a:t>
            </a:r>
            <a:endParaRPr lang="fa-IR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800100" lvl="1" indent="-342900" algn="just" rtl="1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6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بسیار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مقرون ‌به‌صرفه‌تر از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GPT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است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800100" lvl="1" indent="-342900" algn="just" rtl="1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6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همچنان برای کاربردهای صنعتی با منابع محدود گزینه‌ی بسیار مناسبی است</a:t>
            </a:r>
            <a:endParaRPr lang="fa-IR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457200" indent="-457200" algn="just" rtl="1">
              <a:lnSpc>
                <a:spcPct val="107000"/>
              </a:lnSpc>
              <a:buFont typeface="Wingdings" panose="05000000000000000000" pitchFamily="2" charset="2"/>
              <a:buChar char="ü"/>
            </a:pPr>
            <a:r>
              <a:rPr lang="en-US" sz="2600" b="1" dirty="0">
                <a:latin typeface="Calibri" panose="020F0502020204030204" pitchFamily="34" charset="0"/>
                <a:cs typeface="B Nazanin" panose="00000400000000000000" pitchFamily="2" charset="-78"/>
              </a:rPr>
              <a:t>GPT</a:t>
            </a:r>
            <a:r>
              <a:rPr lang="fa-IR" sz="2800" b="1" dirty="0"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در حالت 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latin typeface="Calibri" panose="020F0502020204030204" pitchFamily="34" charset="0"/>
                <a:cs typeface="B Nazanin" panose="00000400000000000000" pitchFamily="2" charset="-78"/>
              </a:rPr>
              <a:t>zero-shot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عملکرد ضعیف‌تری از انتظار دارد. چراکه بدون مثال، </a:t>
            </a:r>
            <a:r>
              <a:rPr lang="en-US" sz="2600" b="1" dirty="0">
                <a:latin typeface="Calibri" panose="020F0502020204030204" pitchFamily="34" charset="0"/>
                <a:cs typeface="B Nazanin" panose="00000400000000000000" pitchFamily="2" charset="-78"/>
              </a:rPr>
              <a:t>LLM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ها نمیتوانند قواعد </a:t>
            </a:r>
            <a:r>
              <a:rPr lang="en-US" sz="2600" b="1" dirty="0">
                <a:latin typeface="Calibri" panose="020F0502020204030204" pitchFamily="34" charset="0"/>
                <a:cs typeface="B Nazanin" panose="00000400000000000000" pitchFamily="2" charset="-78"/>
              </a:rPr>
              <a:t>labeling</a:t>
            </a:r>
            <a:r>
              <a:rPr lang="en-US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</a:t>
            </a:r>
            <a:r>
              <a:rPr lang="fa-IR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 Nazanin" panose="00000400000000000000" pitchFamily="2" charset="-78"/>
              </a:rPr>
              <a:t> را  یاد بگیرند.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C0B5DB6-FB5A-49B9-B261-EC52FA90BC43}"/>
              </a:ext>
            </a:extLst>
          </p:cNvPr>
          <p:cNvSpPr txBox="1"/>
          <p:nvPr/>
        </p:nvSpPr>
        <p:spPr>
          <a:xfrm>
            <a:off x="4959639" y="543610"/>
            <a:ext cx="3726740" cy="619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B Zar" panose="00000400000000000000" pitchFamily="2" charset="-78"/>
              </a:rPr>
              <a:t>تحلیل نتایج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B52D6DC-BA46-4BA9-BF1A-64B5A22D7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9182741"/>
              </p:ext>
            </p:extLst>
          </p:nvPr>
        </p:nvGraphicFramePr>
        <p:xfrm>
          <a:off x="1986984" y="4877607"/>
          <a:ext cx="10351632" cy="2780493"/>
        </p:xfrm>
        <a:graphic>
          <a:graphicData uri="http://schemas.openxmlformats.org/drawingml/2006/table">
            <a:tbl>
              <a:tblPr rtl="1" firstRow="1" firstCol="1" bandRow="1">
                <a:tableStyleId>{7E9639D4-E3E2-4D34-9284-5A2195B3D0D7}</a:tableStyleId>
              </a:tblPr>
              <a:tblGrid>
                <a:gridCol w="3449806">
                  <a:extLst>
                    <a:ext uri="{9D8B030D-6E8A-4147-A177-3AD203B41FA5}">
                      <a16:colId xmlns:a16="http://schemas.microsoft.com/office/drawing/2014/main" val="3455801331"/>
                    </a:ext>
                  </a:extLst>
                </a:gridCol>
                <a:gridCol w="3450913">
                  <a:extLst>
                    <a:ext uri="{9D8B030D-6E8A-4147-A177-3AD203B41FA5}">
                      <a16:colId xmlns:a16="http://schemas.microsoft.com/office/drawing/2014/main" val="4201123247"/>
                    </a:ext>
                  </a:extLst>
                </a:gridCol>
                <a:gridCol w="3450913">
                  <a:extLst>
                    <a:ext uri="{9D8B030D-6E8A-4147-A177-3AD203B41FA5}">
                      <a16:colId xmlns:a16="http://schemas.microsoft.com/office/drawing/2014/main" val="3858308110"/>
                    </a:ext>
                  </a:extLst>
                </a:gridCol>
              </a:tblGrid>
              <a:tr h="562352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2800" dirty="0">
                          <a:effectLst/>
                          <a:cs typeface="B Nazanin" panose="00000400000000000000" pitchFamily="2" charset="-78"/>
                        </a:rPr>
                        <a:t>مدل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ar-SA" sz="2800">
                          <a:effectLst/>
                          <a:cs typeface="B Nazanin" panose="00000400000000000000" pitchFamily="2" charset="-78"/>
                        </a:rPr>
                        <a:t>هزینه برای ۱۰۰۰ نمونه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F1-score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5761844"/>
                  </a:ext>
                </a:extLst>
              </a:tr>
              <a:tr h="70752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 err="1">
                          <a:effectLst/>
                          <a:cs typeface="B Nazanin" panose="00000400000000000000" pitchFamily="2" charset="-78"/>
                        </a:rPr>
                        <a:t>InstructABSA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~$0.05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78.1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73043363"/>
                  </a:ext>
                </a:extLst>
              </a:tr>
              <a:tr h="72846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  <a:cs typeface="B Nazanin" panose="00000400000000000000" pitchFamily="2" charset="-78"/>
                        </a:rPr>
                        <a:t>GPT-3.5 Fine-tuned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~$0.36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83.8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5955932"/>
                  </a:ext>
                </a:extLst>
              </a:tr>
              <a:tr h="782149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600" dirty="0">
                          <a:effectLst/>
                          <a:cs typeface="B Nazanin" panose="00000400000000000000" pitchFamily="2" charset="-78"/>
                        </a:rPr>
                        <a:t>GPT-4 Few-shot</a:t>
                      </a:r>
                      <a:endParaRPr lang="en-US" sz="2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3200" dirty="0">
                          <a:effectLst/>
                          <a:cs typeface="B Nazanin" panose="00000400000000000000" pitchFamily="2" charset="-78"/>
                        </a:rPr>
                        <a:t>~$15.02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~78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37171844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6FAE98BB-19B0-4109-9C2E-266EF150907D}"/>
              </a:ext>
            </a:extLst>
          </p:cNvPr>
          <p:cNvSpPr txBox="1"/>
          <p:nvPr/>
        </p:nvSpPr>
        <p:spPr>
          <a:xfrm>
            <a:off x="330769" y="8448112"/>
            <a:ext cx="12984480" cy="1146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این تحلیل</a:t>
            </a:r>
            <a:r>
              <a:rPr lang="fa-IR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عملاً سقف توان بالقوه‌ </a:t>
            </a:r>
            <a:r>
              <a:rPr lang="en-US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LLM</a:t>
            </a:r>
            <a:r>
              <a:rPr lang="ar-SA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ها را نشان می‌دهد و مسئله‌ی مهم</a:t>
            </a:r>
            <a:r>
              <a:rPr lang="en-US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trade-off  </a:t>
            </a:r>
            <a:r>
              <a:rPr lang="fa-IR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3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بین دقت و هزینه را برجسته می‌کند.</a:t>
            </a:r>
            <a:endParaRPr lang="fa-IR" sz="32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08891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10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87" name="AutoShape 8">
            <a:extLst>
              <a:ext uri="{FF2B5EF4-FFF2-40B4-BE49-F238E27FC236}">
                <a16:creationId xmlns:a16="http://schemas.microsoft.com/office/drawing/2014/main" id="{86380242-0991-4C92-AF6A-16786FED436C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AutoShape 10">
            <a:extLst>
              <a:ext uri="{FF2B5EF4-FFF2-40B4-BE49-F238E27FC236}">
                <a16:creationId xmlns:a16="http://schemas.microsoft.com/office/drawing/2014/main" id="{EC667750-9B8E-420D-B1E2-81785F23F524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9" name="AutoShape 11">
            <a:extLst>
              <a:ext uri="{FF2B5EF4-FFF2-40B4-BE49-F238E27FC236}">
                <a16:creationId xmlns:a16="http://schemas.microsoft.com/office/drawing/2014/main" id="{CE6386E5-D61A-41EE-939B-CE507378066E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0" name="Group 13">
            <a:extLst>
              <a:ext uri="{FF2B5EF4-FFF2-40B4-BE49-F238E27FC236}">
                <a16:creationId xmlns:a16="http://schemas.microsoft.com/office/drawing/2014/main" id="{7A4D3477-7431-4C12-B339-46E9D7CE8D44}"/>
              </a:ext>
            </a:extLst>
          </p:cNvPr>
          <p:cNvGrpSpPr/>
          <p:nvPr/>
        </p:nvGrpSpPr>
        <p:grpSpPr>
          <a:xfrm>
            <a:off x="13785140" y="7300240"/>
            <a:ext cx="4510468" cy="2293823"/>
            <a:chOff x="0" y="0"/>
            <a:chExt cx="1187942" cy="812800"/>
          </a:xfrm>
        </p:grpSpPr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BF645F75-507A-4CEB-B506-D11735577B54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92" name="TextBox 15">
              <a:extLst>
                <a:ext uri="{FF2B5EF4-FFF2-40B4-BE49-F238E27FC236}">
                  <a16:creationId xmlns:a16="http://schemas.microsoft.com/office/drawing/2014/main" id="{1BA99903-6D1B-4DE9-A538-55C95B77E371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93" name="TextBox 19">
            <a:extLst>
              <a:ext uri="{FF2B5EF4-FFF2-40B4-BE49-F238E27FC236}">
                <a16:creationId xmlns:a16="http://schemas.microsoft.com/office/drawing/2014/main" id="{DDA7C776-CF65-4E52-B59F-69DD71609936}"/>
              </a:ext>
            </a:extLst>
          </p:cNvPr>
          <p:cNvSpPr txBox="1"/>
          <p:nvPr/>
        </p:nvSpPr>
        <p:spPr>
          <a:xfrm>
            <a:off x="14742678" y="4087474"/>
            <a:ext cx="334141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چالش روش‌های سنتی 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DFB3FEAD-8AA3-4330-84F6-6E971985AE6E}"/>
              </a:ext>
            </a:extLst>
          </p:cNvPr>
          <p:cNvSpPr txBox="1"/>
          <p:nvPr/>
        </p:nvSpPr>
        <p:spPr>
          <a:xfrm>
            <a:off x="14602322" y="5775985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مدلهای مبتنی بر یادگیری عمیق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95" name="TextBox 23">
            <a:extLst>
              <a:ext uri="{FF2B5EF4-FFF2-40B4-BE49-F238E27FC236}">
                <a16:creationId xmlns:a16="http://schemas.microsoft.com/office/drawing/2014/main" id="{C7BD3D03-8E8A-4F27-B281-E8B8C186CA1A}"/>
              </a:ext>
            </a:extLst>
          </p:cNvPr>
          <p:cNvSpPr txBox="1"/>
          <p:nvPr/>
        </p:nvSpPr>
        <p:spPr>
          <a:xfrm>
            <a:off x="14428967" y="1910163"/>
            <a:ext cx="3716843" cy="1082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28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اسکلت بندی در مدلهای سه بعدی</a:t>
            </a:r>
            <a:r>
              <a:rPr lang="en-US" sz="28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</a:t>
            </a:r>
          </a:p>
        </p:txBody>
      </p:sp>
      <p:sp>
        <p:nvSpPr>
          <p:cNvPr id="96" name="TextBox 25">
            <a:extLst>
              <a:ext uri="{FF2B5EF4-FFF2-40B4-BE49-F238E27FC236}">
                <a16:creationId xmlns:a16="http://schemas.microsoft.com/office/drawing/2014/main" id="{1EEA7FAB-7AFE-4681-B86B-9A97C62CEB90}"/>
              </a:ext>
            </a:extLst>
          </p:cNvPr>
          <p:cNvSpPr txBox="1"/>
          <p:nvPr/>
        </p:nvSpPr>
        <p:spPr>
          <a:xfrm>
            <a:off x="14672500" y="801412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832692-997C-49E9-B76E-1D8D75453BBB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10</a:t>
            </a:fld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0B9725-BD2A-49CC-95CB-6A0FD122DA70}"/>
              </a:ext>
            </a:extLst>
          </p:cNvPr>
          <p:cNvSpPr txBox="1"/>
          <p:nvPr/>
        </p:nvSpPr>
        <p:spPr>
          <a:xfrm>
            <a:off x="1068533" y="1036719"/>
            <a:ext cx="12669165" cy="3978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</a:t>
            </a:r>
            <a:endParaRPr lang="fa-IR" sz="4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به جای</a:t>
            </a:r>
            <a:r>
              <a:rPr lang="ar-SA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Fine-tuning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معمولی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مدل،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از روش</a:t>
            </a: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Instruction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Learning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fa-IR" sz="2800" b="1" dirty="0">
                <a:effectLst/>
                <a:latin typeface="B Zar" panose="00000400000000000000" pitchFamily="2" charset="-78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B Zar" panose="00000400000000000000" pitchFamily="2" charset="-78"/>
                <a:ea typeface="Times New Roman" panose="02020603050405020304" pitchFamily="18" charset="0"/>
                <a:cs typeface="B Nazanin" panose="00000400000000000000" pitchFamily="2" charset="-78"/>
              </a:rPr>
              <a:t>که یادگیری مبتنی بر دستورالعمل است استفاده می شود که ساختار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هر </a:t>
            </a: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instruction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در دو نسخه شماره يک و دو روش، اينگونه است: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1143000" marR="0" lvl="2" indent="-22860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"/>
            </a:pP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InstructABSA-1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: تعریف دستورالعمل +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۲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مثال مثبت </a:t>
            </a: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1143000" marR="0" lvl="2" indent="-228600" algn="r" rtl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"/>
            </a:pPr>
            <a:r>
              <a:rPr lang="en-US" sz="26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InstructABSA-2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: تعریف دستورالعمل +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۲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مثال مثبت +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۲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مثال منفی + 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۲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مثال خنثی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AA128C1-12A4-4590-AFF6-B4EB33007AAC}"/>
              </a:ext>
            </a:extLst>
          </p:cNvPr>
          <p:cNvSpPr txBox="1"/>
          <p:nvPr/>
        </p:nvSpPr>
        <p:spPr>
          <a:xfrm>
            <a:off x="242010" y="6022206"/>
            <a:ext cx="12984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 rtl="1">
              <a:spcBef>
                <a:spcPts val="0"/>
              </a:spcBef>
              <a:spcAft>
                <a:spcPts val="0"/>
              </a:spcAft>
            </a:pPr>
            <a:r>
              <a:rPr lang="ar-SA" sz="3200" b="1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نوآوری اینجاست:</a:t>
            </a:r>
            <a:r>
              <a:rPr lang="fa-IR" sz="3200" b="1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 </a:t>
            </a:r>
            <a:r>
              <a:rPr lang="ar-SA" sz="3200" b="1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استفاده هم‌زمان از مثال‌های مثبت، منفی و خنثی داخل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Zar" panose="00000400000000000000" pitchFamily="2" charset="-78"/>
              </a:rPr>
              <a:t>instruction</a:t>
            </a:r>
            <a:endParaRPr lang="en-US" sz="2800" b="1" dirty="0">
              <a:solidFill>
                <a:schemeClr val="accent3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511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11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87" name="AutoShape 8">
            <a:extLst>
              <a:ext uri="{FF2B5EF4-FFF2-40B4-BE49-F238E27FC236}">
                <a16:creationId xmlns:a16="http://schemas.microsoft.com/office/drawing/2014/main" id="{86380242-0991-4C92-AF6A-16786FED436C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AutoShape 10">
            <a:extLst>
              <a:ext uri="{FF2B5EF4-FFF2-40B4-BE49-F238E27FC236}">
                <a16:creationId xmlns:a16="http://schemas.microsoft.com/office/drawing/2014/main" id="{EC667750-9B8E-420D-B1E2-81785F23F524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9" name="AutoShape 11">
            <a:extLst>
              <a:ext uri="{FF2B5EF4-FFF2-40B4-BE49-F238E27FC236}">
                <a16:creationId xmlns:a16="http://schemas.microsoft.com/office/drawing/2014/main" id="{CE6386E5-D61A-41EE-939B-CE507378066E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0" name="Group 13">
            <a:extLst>
              <a:ext uri="{FF2B5EF4-FFF2-40B4-BE49-F238E27FC236}">
                <a16:creationId xmlns:a16="http://schemas.microsoft.com/office/drawing/2014/main" id="{7A4D3477-7431-4C12-B339-46E9D7CE8D44}"/>
              </a:ext>
            </a:extLst>
          </p:cNvPr>
          <p:cNvGrpSpPr/>
          <p:nvPr/>
        </p:nvGrpSpPr>
        <p:grpSpPr>
          <a:xfrm>
            <a:off x="13785140" y="7300240"/>
            <a:ext cx="4510468" cy="2293823"/>
            <a:chOff x="0" y="0"/>
            <a:chExt cx="1187942" cy="812800"/>
          </a:xfrm>
        </p:grpSpPr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BF645F75-507A-4CEB-B506-D11735577B54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92" name="TextBox 15">
              <a:extLst>
                <a:ext uri="{FF2B5EF4-FFF2-40B4-BE49-F238E27FC236}">
                  <a16:creationId xmlns:a16="http://schemas.microsoft.com/office/drawing/2014/main" id="{1BA99903-6D1B-4DE9-A538-55C95B77E371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93" name="TextBox 19">
            <a:extLst>
              <a:ext uri="{FF2B5EF4-FFF2-40B4-BE49-F238E27FC236}">
                <a16:creationId xmlns:a16="http://schemas.microsoft.com/office/drawing/2014/main" id="{DDA7C776-CF65-4E52-B59F-69DD71609936}"/>
              </a:ext>
            </a:extLst>
          </p:cNvPr>
          <p:cNvSpPr txBox="1"/>
          <p:nvPr/>
        </p:nvSpPr>
        <p:spPr>
          <a:xfrm>
            <a:off x="14742678" y="4087474"/>
            <a:ext cx="334141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چالش روش‌های سنتی 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DFB3FEAD-8AA3-4330-84F6-6E971985AE6E}"/>
              </a:ext>
            </a:extLst>
          </p:cNvPr>
          <p:cNvSpPr txBox="1"/>
          <p:nvPr/>
        </p:nvSpPr>
        <p:spPr>
          <a:xfrm>
            <a:off x="14602322" y="5775985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مدلهای مبتنی بر یادگیری عمیق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95" name="TextBox 23">
            <a:extLst>
              <a:ext uri="{FF2B5EF4-FFF2-40B4-BE49-F238E27FC236}">
                <a16:creationId xmlns:a16="http://schemas.microsoft.com/office/drawing/2014/main" id="{C7BD3D03-8E8A-4F27-B281-E8B8C186CA1A}"/>
              </a:ext>
            </a:extLst>
          </p:cNvPr>
          <p:cNvSpPr txBox="1"/>
          <p:nvPr/>
        </p:nvSpPr>
        <p:spPr>
          <a:xfrm>
            <a:off x="14428967" y="1910163"/>
            <a:ext cx="3716843" cy="1082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28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اسکلت بندی در مدلهای سه بعدی</a:t>
            </a:r>
            <a:r>
              <a:rPr lang="en-US" sz="28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</a:t>
            </a:r>
          </a:p>
        </p:txBody>
      </p:sp>
      <p:sp>
        <p:nvSpPr>
          <p:cNvPr id="96" name="TextBox 25">
            <a:extLst>
              <a:ext uri="{FF2B5EF4-FFF2-40B4-BE49-F238E27FC236}">
                <a16:creationId xmlns:a16="http://schemas.microsoft.com/office/drawing/2014/main" id="{1EEA7FAB-7AFE-4681-B86B-9A97C62CEB90}"/>
              </a:ext>
            </a:extLst>
          </p:cNvPr>
          <p:cNvSpPr txBox="1"/>
          <p:nvPr/>
        </p:nvSpPr>
        <p:spPr>
          <a:xfrm>
            <a:off x="14672500" y="801412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832692-997C-49E9-B76E-1D8D75453BBB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11</a:t>
            </a:fld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0B9725-BD2A-49CC-95CB-6A0FD122DA70}"/>
              </a:ext>
            </a:extLst>
          </p:cNvPr>
          <p:cNvSpPr txBox="1"/>
          <p:nvPr/>
        </p:nvSpPr>
        <p:spPr>
          <a:xfrm>
            <a:off x="828217" y="861682"/>
            <a:ext cx="12669165" cy="13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fa-IR" sz="4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نتایج کلیدی</a:t>
            </a: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461C03-11DE-4456-A99E-9669F4075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109051"/>
              </p:ext>
            </p:extLst>
          </p:nvPr>
        </p:nvGraphicFramePr>
        <p:xfrm>
          <a:off x="2057400" y="2416456"/>
          <a:ext cx="10562110" cy="2623797"/>
        </p:xfrm>
        <a:graphic>
          <a:graphicData uri="http://schemas.openxmlformats.org/drawingml/2006/table">
            <a:tbl>
              <a:tblPr rtl="1" firstRow="1" firstCol="1" bandRow="1">
                <a:tableStyleId>{912C8C85-51F0-491E-9774-3900AFEF0FD7}</a:tableStyleId>
              </a:tblPr>
              <a:tblGrid>
                <a:gridCol w="2112422">
                  <a:extLst>
                    <a:ext uri="{9D8B030D-6E8A-4147-A177-3AD203B41FA5}">
                      <a16:colId xmlns:a16="http://schemas.microsoft.com/office/drawing/2014/main" val="413509741"/>
                    </a:ext>
                  </a:extLst>
                </a:gridCol>
                <a:gridCol w="2112422">
                  <a:extLst>
                    <a:ext uri="{9D8B030D-6E8A-4147-A177-3AD203B41FA5}">
                      <a16:colId xmlns:a16="http://schemas.microsoft.com/office/drawing/2014/main" val="777319294"/>
                    </a:ext>
                  </a:extLst>
                </a:gridCol>
                <a:gridCol w="2112422">
                  <a:extLst>
                    <a:ext uri="{9D8B030D-6E8A-4147-A177-3AD203B41FA5}">
                      <a16:colId xmlns:a16="http://schemas.microsoft.com/office/drawing/2014/main" val="478201248"/>
                    </a:ext>
                  </a:extLst>
                </a:gridCol>
                <a:gridCol w="2112422">
                  <a:extLst>
                    <a:ext uri="{9D8B030D-6E8A-4147-A177-3AD203B41FA5}">
                      <a16:colId xmlns:a16="http://schemas.microsoft.com/office/drawing/2014/main" val="892591097"/>
                    </a:ext>
                  </a:extLst>
                </a:gridCol>
                <a:gridCol w="2112422">
                  <a:extLst>
                    <a:ext uri="{9D8B030D-6E8A-4147-A177-3AD203B41FA5}">
                      <a16:colId xmlns:a16="http://schemas.microsoft.com/office/drawing/2014/main" val="277536489"/>
                    </a:ext>
                  </a:extLst>
                </a:gridCol>
              </a:tblGrid>
              <a:tr h="605553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تسک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dataset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InstructABSA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SOTA </a:t>
                      </a:r>
                      <a:r>
                        <a:rPr lang="en-US" sz="320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fa-IR" sz="3200" dirty="0">
                          <a:effectLst/>
                          <a:cs typeface="B Nazanin" panose="00000400000000000000" pitchFamily="2" charset="-78"/>
                        </a:rPr>
                        <a:t> </a:t>
                      </a:r>
                      <a:r>
                        <a:rPr lang="ar-SA" sz="3200" dirty="0">
                          <a:effectLst/>
                          <a:cs typeface="B Nazanin" panose="00000400000000000000" pitchFamily="2" charset="-78"/>
                        </a:rPr>
                        <a:t>قبلی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3200">
                          <a:effectLst/>
                          <a:cs typeface="B Nazanin" panose="00000400000000000000" pitchFamily="2" charset="-78"/>
                        </a:rPr>
                        <a:t>بهبود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9917238"/>
                  </a:ext>
                </a:extLst>
              </a:tr>
              <a:tr h="50456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ATE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Rest14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92.76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87.07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+5.69% ✅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02601630"/>
                  </a:ext>
                </a:extLst>
              </a:tr>
              <a:tr h="50456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ATE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Lapt14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92.30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87.93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+4.37% ✅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99297000"/>
                  </a:ext>
                </a:extLst>
              </a:tr>
              <a:tr h="50456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ATSC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Rest15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84.50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74.91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+9.59% ✅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71436520"/>
                  </a:ext>
                </a:extLst>
              </a:tr>
              <a:tr h="504561"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ASPE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Lapt14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79.34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  <a:cs typeface="B Nazanin" panose="00000400000000000000" pitchFamily="2" charset="-78"/>
                        </a:rPr>
                        <a:t>75.97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cs typeface="B Nazanin" panose="00000400000000000000" pitchFamily="2" charset="-78"/>
                        </a:rPr>
                        <a:t>+3.37% ✅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B Nazanin" panose="00000400000000000000" pitchFamily="2" charset="-78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68851708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AE1415B5-9831-41A6-973D-4C1311AFF40F}"/>
              </a:ext>
            </a:extLst>
          </p:cNvPr>
          <p:cNvSpPr txBox="1"/>
          <p:nvPr/>
        </p:nvSpPr>
        <p:spPr>
          <a:xfrm>
            <a:off x="468664" y="5390327"/>
            <a:ext cx="12984480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این نتایج با مدلی با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M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۲۰۰  پارامتر به دست آمده است، در حالی که مدل‌های قبلی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B </a:t>
            </a: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۱.۵ پارامتر داشتند (۷ برابر بزرگتر). 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457200" marR="0" lvl="0" indent="-45720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نشان می‌دهد که با طراحی هوشمند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prompt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و استفاده از مثال‌های متنوع، می‌توان با مدل‌های کوچک به نتایج بهتر از مدل‌های بزرگ رسید.</a:t>
            </a:r>
            <a:endParaRPr kumimoji="0" lang="fa-I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457200" marR="0" lvl="0" indent="-45720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به صورت میانگین در تسک‌های مختلف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ABSA،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با 50% داده، نتایج رقابتی با روش‌های دیگرحاصل مي‌شود. این یعنی نیاز به داده برچسب‌خورده کمتر شده،  هزینه کاهش پیدا کرده و برای زبان‌هایی با داده کم (مثل فارسی!) نيز مفيد خواهد بود</a:t>
            </a:r>
          </a:p>
        </p:txBody>
      </p:sp>
    </p:spTree>
    <p:extLst>
      <p:ext uri="{BB962C8B-B14F-4D97-AF65-F5344CB8AC3E}">
        <p14:creationId xmlns:p14="http://schemas.microsoft.com/office/powerpoint/2010/main" val="1274867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91882" y="114300"/>
            <a:ext cx="3996118" cy="10954000"/>
            <a:chOff x="0" y="0"/>
            <a:chExt cx="1052475" cy="28850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52475" cy="2885004"/>
            </a:xfrm>
            <a:custGeom>
              <a:avLst/>
              <a:gdLst/>
              <a:ahLst/>
              <a:cxnLst/>
              <a:rect l="l" t="t" r="r" b="b"/>
              <a:pathLst>
                <a:path w="1052475" h="2885004">
                  <a:moveTo>
                    <a:pt x="0" y="0"/>
                  </a:moveTo>
                  <a:lnTo>
                    <a:pt x="1052475" y="0"/>
                  </a:lnTo>
                  <a:lnTo>
                    <a:pt x="1052475" y="2885004"/>
                  </a:lnTo>
                  <a:lnTo>
                    <a:pt x="0" y="2885004"/>
                  </a:lnTo>
                  <a:close/>
                </a:path>
              </a:pathLst>
            </a:custGeom>
            <a:solidFill>
              <a:srgbClr val="E2AD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52475" cy="29231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B6DEC47-A87D-466F-864B-D6E6D9E36A61}"/>
              </a:ext>
            </a:extLst>
          </p:cNvPr>
          <p:cNvSpPr txBox="1"/>
          <p:nvPr/>
        </p:nvSpPr>
        <p:spPr>
          <a:xfrm>
            <a:off x="25493282" y="9622554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>
                <a:latin typeface="Times New Roman" panose="02020603050405020304" pitchFamily="18" charset="0"/>
                <a:cs typeface="B Nazanin" panose="00000400000000000000" pitchFamily="2" charset="-78"/>
              </a:rPr>
              <a:t>12</a:t>
            </a:fld>
            <a:endParaRPr lang="en-US" dirty="0">
              <a:latin typeface="Times New Roman" panose="02020603050405020304" pitchFamily="18" charset="0"/>
              <a:cs typeface="B Nazanin" panose="00000400000000000000" pitchFamily="2" charset="-78"/>
            </a:endParaRPr>
          </a:p>
        </p:txBody>
      </p:sp>
      <p:sp>
        <p:nvSpPr>
          <p:cNvPr id="87" name="AutoShape 8">
            <a:extLst>
              <a:ext uri="{FF2B5EF4-FFF2-40B4-BE49-F238E27FC236}">
                <a16:creationId xmlns:a16="http://schemas.microsoft.com/office/drawing/2014/main" id="{86380242-0991-4C92-AF6A-16786FED436C}"/>
              </a:ext>
            </a:extLst>
          </p:cNvPr>
          <p:cNvSpPr/>
          <p:nvPr/>
        </p:nvSpPr>
        <p:spPr>
          <a:xfrm flipV="1">
            <a:off x="14299490" y="339349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AutoShape 10">
            <a:extLst>
              <a:ext uri="{FF2B5EF4-FFF2-40B4-BE49-F238E27FC236}">
                <a16:creationId xmlns:a16="http://schemas.microsoft.com/office/drawing/2014/main" id="{EC667750-9B8E-420D-B1E2-81785F23F524}"/>
              </a:ext>
            </a:extLst>
          </p:cNvPr>
          <p:cNvSpPr/>
          <p:nvPr/>
        </p:nvSpPr>
        <p:spPr>
          <a:xfrm>
            <a:off x="14289330" y="5442047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9" name="AutoShape 11">
            <a:extLst>
              <a:ext uri="{FF2B5EF4-FFF2-40B4-BE49-F238E27FC236}">
                <a16:creationId xmlns:a16="http://schemas.microsoft.com/office/drawing/2014/main" id="{CE6386E5-D61A-41EE-939B-CE507378066E}"/>
              </a:ext>
            </a:extLst>
          </p:cNvPr>
          <p:cNvSpPr/>
          <p:nvPr/>
        </p:nvSpPr>
        <p:spPr>
          <a:xfrm>
            <a:off x="14289330" y="7326360"/>
            <a:ext cx="3996118" cy="0"/>
          </a:xfrm>
          <a:prstGeom prst="line">
            <a:avLst/>
          </a:prstGeom>
          <a:ln w="38100" cap="flat">
            <a:solidFill>
              <a:srgbClr val="0F2C33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0" name="Group 13">
            <a:extLst>
              <a:ext uri="{FF2B5EF4-FFF2-40B4-BE49-F238E27FC236}">
                <a16:creationId xmlns:a16="http://schemas.microsoft.com/office/drawing/2014/main" id="{7A4D3477-7431-4C12-B339-46E9D7CE8D44}"/>
              </a:ext>
            </a:extLst>
          </p:cNvPr>
          <p:cNvGrpSpPr/>
          <p:nvPr/>
        </p:nvGrpSpPr>
        <p:grpSpPr>
          <a:xfrm>
            <a:off x="13785140" y="7300240"/>
            <a:ext cx="4510468" cy="2293823"/>
            <a:chOff x="0" y="0"/>
            <a:chExt cx="1187942" cy="812800"/>
          </a:xfrm>
        </p:grpSpPr>
        <p:sp>
          <p:nvSpPr>
            <p:cNvPr id="91" name="Freeform 14">
              <a:extLst>
                <a:ext uri="{FF2B5EF4-FFF2-40B4-BE49-F238E27FC236}">
                  <a16:creationId xmlns:a16="http://schemas.microsoft.com/office/drawing/2014/main" id="{BF645F75-507A-4CEB-B506-D11735577B54}"/>
                </a:ext>
              </a:extLst>
            </p:cNvPr>
            <p:cNvSpPr/>
            <p:nvPr/>
          </p:nvSpPr>
          <p:spPr>
            <a:xfrm>
              <a:off x="0" y="0"/>
              <a:ext cx="1187942" cy="812800"/>
            </a:xfrm>
            <a:custGeom>
              <a:avLst/>
              <a:gdLst/>
              <a:ahLst/>
              <a:cxnLst/>
              <a:rect l="l" t="t" r="r" b="b"/>
              <a:pathLst>
                <a:path w="1187942" h="812800">
                  <a:moveTo>
                    <a:pt x="0" y="0"/>
                  </a:moveTo>
                  <a:lnTo>
                    <a:pt x="1187942" y="0"/>
                  </a:lnTo>
                  <a:lnTo>
                    <a:pt x="11879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F2C33"/>
            </a:solidFill>
          </p:spPr>
        </p:sp>
        <p:sp>
          <p:nvSpPr>
            <p:cNvPr id="92" name="TextBox 15">
              <a:extLst>
                <a:ext uri="{FF2B5EF4-FFF2-40B4-BE49-F238E27FC236}">
                  <a16:creationId xmlns:a16="http://schemas.microsoft.com/office/drawing/2014/main" id="{1BA99903-6D1B-4DE9-A538-55C95B77E371}"/>
                </a:ext>
              </a:extLst>
            </p:cNvPr>
            <p:cNvSpPr txBox="1"/>
            <p:nvPr/>
          </p:nvSpPr>
          <p:spPr>
            <a:xfrm>
              <a:off x="0" y="-38100"/>
              <a:ext cx="1187942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Times New Roman" panose="02020603050405020304" pitchFamily="18" charset="0"/>
                <a:cs typeface="B Nazanin" panose="00000400000000000000" pitchFamily="2" charset="-78"/>
              </a:endParaRPr>
            </a:p>
          </p:txBody>
        </p:sp>
      </p:grpSp>
      <p:sp>
        <p:nvSpPr>
          <p:cNvPr id="93" name="TextBox 19">
            <a:extLst>
              <a:ext uri="{FF2B5EF4-FFF2-40B4-BE49-F238E27FC236}">
                <a16:creationId xmlns:a16="http://schemas.microsoft.com/office/drawing/2014/main" id="{DDA7C776-CF65-4E52-B59F-69DD71609936}"/>
              </a:ext>
            </a:extLst>
          </p:cNvPr>
          <p:cNvSpPr txBox="1"/>
          <p:nvPr/>
        </p:nvSpPr>
        <p:spPr>
          <a:xfrm>
            <a:off x="14742678" y="4087474"/>
            <a:ext cx="334141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چالش روش‌های سنتی 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94" name="TextBox 22">
            <a:extLst>
              <a:ext uri="{FF2B5EF4-FFF2-40B4-BE49-F238E27FC236}">
                <a16:creationId xmlns:a16="http://schemas.microsoft.com/office/drawing/2014/main" id="{DFB3FEAD-8AA3-4330-84F6-6E971985AE6E}"/>
              </a:ext>
            </a:extLst>
          </p:cNvPr>
          <p:cNvSpPr txBox="1"/>
          <p:nvPr/>
        </p:nvSpPr>
        <p:spPr>
          <a:xfrm>
            <a:off x="14602322" y="5775985"/>
            <a:ext cx="348176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مدلهای مبتنی بر یادگیری عمیق به عنوان راه‌حل</a:t>
            </a:r>
            <a:endParaRPr lang="en-US" sz="3000" b="1" dirty="0">
              <a:solidFill>
                <a:srgbClr val="0F2C33"/>
              </a:solidFill>
              <a:latin typeface="Times New Roman" panose="02020603050405020304" pitchFamily="18" charset="0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95" name="TextBox 23">
            <a:extLst>
              <a:ext uri="{FF2B5EF4-FFF2-40B4-BE49-F238E27FC236}">
                <a16:creationId xmlns:a16="http://schemas.microsoft.com/office/drawing/2014/main" id="{C7BD3D03-8E8A-4F27-B281-E8B8C186CA1A}"/>
              </a:ext>
            </a:extLst>
          </p:cNvPr>
          <p:cNvSpPr txBox="1"/>
          <p:nvPr/>
        </p:nvSpPr>
        <p:spPr>
          <a:xfrm>
            <a:off x="14428967" y="1910163"/>
            <a:ext cx="3716843" cy="1082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28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اسکلت بندی در مدلهای سه بعدی</a:t>
            </a:r>
            <a:r>
              <a:rPr lang="en-US" sz="2800" b="1" dirty="0">
                <a:solidFill>
                  <a:srgbClr val="0F2C33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 </a:t>
            </a:r>
          </a:p>
        </p:txBody>
      </p:sp>
      <p:sp>
        <p:nvSpPr>
          <p:cNvPr id="96" name="TextBox 25">
            <a:extLst>
              <a:ext uri="{FF2B5EF4-FFF2-40B4-BE49-F238E27FC236}">
                <a16:creationId xmlns:a16="http://schemas.microsoft.com/office/drawing/2014/main" id="{1EEA7FAB-7AFE-4681-B86B-9A97C62CEB90}"/>
              </a:ext>
            </a:extLst>
          </p:cNvPr>
          <p:cNvSpPr txBox="1"/>
          <p:nvPr/>
        </p:nvSpPr>
        <p:spPr>
          <a:xfrm>
            <a:off x="14672500" y="8014122"/>
            <a:ext cx="3341412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fa-IR" sz="3000" b="1" dirty="0">
                <a:solidFill>
                  <a:schemeClr val="bg1"/>
                </a:solidFill>
                <a:latin typeface="Times New Roman" panose="02020603050405020304" pitchFamily="18" charset="0"/>
                <a:ea typeface="Oswald Bold"/>
                <a:cs typeface="B Nazanin" panose="00000400000000000000" pitchFamily="2" charset="-78"/>
                <a:sym typeface="Oswald Bold"/>
              </a:rPr>
              <a:t>یادگیری دستورالعمل به عنوان راه‌حل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2832692-997C-49E9-B76E-1D8D75453BBB}"/>
              </a:ext>
            </a:extLst>
          </p:cNvPr>
          <p:cNvSpPr txBox="1"/>
          <p:nvPr/>
        </p:nvSpPr>
        <p:spPr>
          <a:xfrm>
            <a:off x="7162800" y="9807220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12</a:t>
            </a:fld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50B9725-BD2A-49CC-95CB-6A0FD122DA70}"/>
              </a:ext>
            </a:extLst>
          </p:cNvPr>
          <p:cNvSpPr txBox="1"/>
          <p:nvPr/>
        </p:nvSpPr>
        <p:spPr>
          <a:xfrm>
            <a:off x="1068533" y="1036719"/>
            <a:ext cx="12669165" cy="1379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fa-IR" sz="40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محدودیت‌ها</a:t>
            </a:r>
          </a:p>
          <a:p>
            <a:pPr marL="0" marR="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1415B5-9831-41A6-973D-4C1311AFF40F}"/>
              </a:ext>
            </a:extLst>
          </p:cNvPr>
          <p:cNvSpPr txBox="1"/>
          <p:nvPr/>
        </p:nvSpPr>
        <p:spPr>
          <a:xfrm>
            <a:off x="381000" y="2499165"/>
            <a:ext cx="12984480" cy="339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</a:pP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مدل</a:t>
            </a:r>
            <a:r>
              <a:rPr lang="fa-IR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محدودیت هایی هم مشتمل بر موارد زیر دارد:</a:t>
            </a:r>
            <a:endParaRPr lang="fa-IR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R="0" lvl="0" algn="just" rtl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400"/>
            </a:pP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914400" lvl="1" indent="-457200" algn="just" rtl="1">
              <a:lnSpc>
                <a:spcPct val="150000"/>
              </a:lnSpc>
              <a:spcAft>
                <a:spcPts val="50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Exposure Bias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: در تسک‌های پیچیده‌تر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(AOPE, AOSTE)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عملکرد مدل ضعیف‌تر است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914400" lvl="1" indent="-457200" algn="just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مدل</a:t>
            </a:r>
            <a:r>
              <a:rPr lang="ar-SA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فقط روی دیتاست‌های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en-US" sz="2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SemEval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تست شده است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914400" lvl="1" indent="-457200" algn="just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فقط روی زبان انگلیسی تست شده است</a:t>
            </a:r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78054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0600" y="1866900"/>
            <a:ext cx="9654312" cy="6097589"/>
          </a:xfrm>
          <a:custGeom>
            <a:avLst/>
            <a:gdLst/>
            <a:ahLst/>
            <a:cxnLst/>
            <a:rect l="l" t="t" r="r" b="b"/>
            <a:pathLst>
              <a:path w="10926625" h="6655308">
                <a:moveTo>
                  <a:pt x="0" y="0"/>
                </a:moveTo>
                <a:lnTo>
                  <a:pt x="10926625" y="0"/>
                </a:lnTo>
                <a:lnTo>
                  <a:pt x="10926625" y="6655308"/>
                </a:lnTo>
                <a:lnTo>
                  <a:pt x="0" y="6655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644911" y="4939072"/>
            <a:ext cx="3484469" cy="897682"/>
          </a:xfrm>
          <a:custGeom>
            <a:avLst/>
            <a:gdLst/>
            <a:ahLst/>
            <a:cxnLst/>
            <a:rect l="l" t="t" r="r" b="b"/>
            <a:pathLst>
              <a:path w="5539425" h="1232522">
                <a:moveTo>
                  <a:pt x="0" y="0"/>
                </a:moveTo>
                <a:lnTo>
                  <a:pt x="5539425" y="0"/>
                </a:lnTo>
                <a:lnTo>
                  <a:pt x="5539425" y="1232522"/>
                </a:lnTo>
                <a:lnTo>
                  <a:pt x="0" y="12325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885259" y="-1485900"/>
            <a:ext cx="3714840" cy="3742054"/>
          </a:xfrm>
          <a:custGeom>
            <a:avLst/>
            <a:gdLst/>
            <a:ahLst/>
            <a:cxnLst/>
            <a:rect l="l" t="t" r="r" b="b"/>
            <a:pathLst>
              <a:path w="3714840" h="3742054">
                <a:moveTo>
                  <a:pt x="0" y="0"/>
                </a:moveTo>
                <a:lnTo>
                  <a:pt x="3714840" y="0"/>
                </a:lnTo>
                <a:lnTo>
                  <a:pt x="3714840" y="3742055"/>
                </a:lnTo>
                <a:lnTo>
                  <a:pt x="0" y="37420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6200" y="8572500"/>
            <a:ext cx="1602524" cy="1602524"/>
          </a:xfrm>
          <a:custGeom>
            <a:avLst/>
            <a:gdLst/>
            <a:ahLst/>
            <a:cxnLst/>
            <a:rect l="l" t="t" r="r" b="b"/>
            <a:pathLst>
              <a:path w="1602524" h="1602524">
                <a:moveTo>
                  <a:pt x="0" y="0"/>
                </a:moveTo>
                <a:lnTo>
                  <a:pt x="1602524" y="0"/>
                </a:lnTo>
                <a:lnTo>
                  <a:pt x="1602524" y="1602524"/>
                </a:lnTo>
                <a:lnTo>
                  <a:pt x="0" y="16025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14398266" y="5143500"/>
            <a:ext cx="5900958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fa-IR" sz="5000" b="1" dirty="0">
                <a:solidFill>
                  <a:srgbClr val="0F2C33"/>
                </a:solidFill>
                <a:latin typeface="Oswald Bold"/>
                <a:ea typeface="Oswald Bold"/>
                <a:cs typeface="B Nazanin" panose="00000400000000000000" pitchFamily="2" charset="-78"/>
                <a:sym typeface="Oswald Bold"/>
              </a:rPr>
              <a:t>جمع بندی</a:t>
            </a:r>
            <a:endParaRPr lang="en-US" sz="5000" b="1" dirty="0">
              <a:solidFill>
                <a:srgbClr val="0F2C33"/>
              </a:solidFill>
              <a:latin typeface="Oswald Bold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3318E2-483E-4543-973F-73559CDC7BA9}"/>
              </a:ext>
            </a:extLst>
          </p:cNvPr>
          <p:cNvSpPr txBox="1"/>
          <p:nvPr/>
        </p:nvSpPr>
        <p:spPr>
          <a:xfrm>
            <a:off x="1550556" y="2859304"/>
            <a:ext cx="8534400" cy="505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 algn="just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ar-SA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بهترین مدل از نظر دقت، لزوماً بهترین انتخاب عملی نیست.</a:t>
            </a:r>
            <a:endParaRPr lang="fa-IR" sz="2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B Nazanin" panose="00000400000000000000" pitchFamily="2" charset="-78"/>
            </a:endParaRPr>
          </a:p>
          <a:p>
            <a:pPr marL="457200" indent="-457200" algn="just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پارامتر بز</a:t>
            </a:r>
            <a:r>
              <a:rPr lang="fa-IR" sz="2800" b="1" dirty="0"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ر</a:t>
            </a: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گتر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در مدل</a:t>
            </a:r>
            <a:r>
              <a:rPr kumimoji="0" lang="ar-SA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همیشه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منجر به نتایج بهتر نخواهد شد.</a:t>
            </a:r>
          </a:p>
          <a:p>
            <a:pPr marL="457200" indent="-457200" algn="just" rt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طبق مقایسه صورت گرفته، انتخاب بین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و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LLM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ها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بستگی به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trade-off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بین هزینه و کارایی دارد. برای کاربردهای صنعتی با حجم بالا، </a:t>
            </a:r>
            <a:r>
              <a:rPr kumimoji="0" lang="en-US" sz="26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InstructABSA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مقرون‌به‌صرفه‌تر است، در حالی که برای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prototyping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سریع یا زبان‌های کم‌منبع،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LLM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ها با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few-shot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prompting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</a:t>
            </a:r>
            <a:r>
              <a:rPr kumimoji="0" lang="fa-IR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Times New Roman" panose="02020603050405020304" pitchFamily="18" charset="0"/>
                <a:cs typeface="B Nazanin" panose="00000400000000000000" pitchFamily="2" charset="-78"/>
              </a:rPr>
              <a:t> گزینه بهتری هستند.</a:t>
            </a:r>
          </a:p>
          <a:p>
            <a:pPr marL="0" marR="0" algn="r" rtl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B Nazanin" panose="00000400000000000000" pitchFamily="2" charset="-7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624A5-4D08-4B8D-8BC4-CE66E07A9F1E}"/>
              </a:ext>
            </a:extLst>
          </p:cNvPr>
          <p:cNvSpPr txBox="1"/>
          <p:nvPr/>
        </p:nvSpPr>
        <p:spPr>
          <a:xfrm>
            <a:off x="5943600" y="9805692"/>
            <a:ext cx="48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A450CBA-3B58-4282-9245-0C05125F20B9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5018527" y="119191"/>
            <a:ext cx="3134223" cy="3014552"/>
          </a:xfrm>
          <a:custGeom>
            <a:avLst/>
            <a:gdLst/>
            <a:ahLst/>
            <a:cxnLst/>
            <a:rect l="l" t="t" r="r" b="b"/>
            <a:pathLst>
              <a:path w="3134223" h="3014552">
                <a:moveTo>
                  <a:pt x="0" y="0"/>
                </a:moveTo>
                <a:lnTo>
                  <a:pt x="3134223" y="0"/>
                </a:lnTo>
                <a:lnTo>
                  <a:pt x="3134223" y="3014553"/>
                </a:lnTo>
                <a:lnTo>
                  <a:pt x="0" y="3014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1722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429160" y="-2115587"/>
            <a:ext cx="3714840" cy="3742054"/>
          </a:xfrm>
          <a:custGeom>
            <a:avLst/>
            <a:gdLst/>
            <a:ahLst/>
            <a:cxnLst/>
            <a:rect l="l" t="t" r="r" b="b"/>
            <a:pathLst>
              <a:path w="3714840" h="3742054">
                <a:moveTo>
                  <a:pt x="0" y="0"/>
                </a:moveTo>
                <a:lnTo>
                  <a:pt x="3714840" y="0"/>
                </a:lnTo>
                <a:lnTo>
                  <a:pt x="3714840" y="3742054"/>
                </a:lnTo>
                <a:lnTo>
                  <a:pt x="0" y="37420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894516" y="6698674"/>
            <a:ext cx="2441759" cy="404000"/>
          </a:xfrm>
          <a:custGeom>
            <a:avLst/>
            <a:gdLst/>
            <a:ahLst/>
            <a:cxnLst/>
            <a:rect l="l" t="t" r="r" b="b"/>
            <a:pathLst>
              <a:path w="2441759" h="404000">
                <a:moveTo>
                  <a:pt x="0" y="0"/>
                </a:moveTo>
                <a:lnTo>
                  <a:pt x="2441759" y="0"/>
                </a:lnTo>
                <a:lnTo>
                  <a:pt x="2441759" y="404000"/>
                </a:lnTo>
                <a:lnTo>
                  <a:pt x="0" y="404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69473" y="2933719"/>
            <a:ext cx="11749054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0"/>
              </a:lnSpc>
            </a:pPr>
            <a:r>
              <a:rPr lang="fa-IR" sz="10443" b="1" dirty="0">
                <a:solidFill>
                  <a:srgbClr val="0F2C33"/>
                </a:solidFill>
                <a:latin typeface="Oswald Bold"/>
                <a:ea typeface="Oswald Bold"/>
                <a:cs typeface="B Nazanin" panose="00000400000000000000" pitchFamily="2" charset="-78"/>
                <a:sym typeface="Oswald Bold"/>
              </a:rPr>
              <a:t>تشکر از حسن توجه شما</a:t>
            </a:r>
            <a:endParaRPr lang="en-US" sz="10443" b="1" dirty="0">
              <a:solidFill>
                <a:srgbClr val="0F2C33"/>
              </a:solidFill>
              <a:latin typeface="Oswald Bold"/>
              <a:ea typeface="Oswald Bold"/>
              <a:cs typeface="B Nazanin" panose="00000400000000000000" pitchFamily="2" charset="-78"/>
              <a:sym typeface="Oswald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1474</Words>
  <Application>Microsoft Office PowerPoint</Application>
  <PresentationFormat>Custom</PresentationFormat>
  <Paragraphs>262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Times New Roman</vt:lpstr>
      <vt:lpstr>Oswald Bold</vt:lpstr>
      <vt:lpstr>Symbol</vt:lpstr>
      <vt:lpstr>Wingdings</vt:lpstr>
      <vt:lpstr>Calibri Light</vt:lpstr>
      <vt:lpstr>Arial</vt:lpstr>
      <vt:lpstr>B Zar</vt:lpstr>
      <vt:lpstr>Calibri</vt:lpstr>
      <vt:lpstr>B Nazanin</vt:lpstr>
      <vt:lpstr>Poppins Bold</vt:lpstr>
      <vt:lpstr>Nunito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Mahsa Arabi</dc:title>
  <dc:creator>Asus</dc:creator>
  <cp:lastModifiedBy>Faeze</cp:lastModifiedBy>
  <cp:revision>103</cp:revision>
  <dcterms:created xsi:type="dcterms:W3CDTF">2006-08-16T00:00:00Z</dcterms:created>
  <dcterms:modified xsi:type="dcterms:W3CDTF">2026-01-24T11:42:30Z</dcterms:modified>
  <dc:identifier>DAGeEd2epQc</dc:identifier>
</cp:coreProperties>
</file>